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BA4277-66A1-F0B7-51F6-8B8E499EB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1EBCE76-393F-D833-0117-61CBD5356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B82C622-AD6B-4777-05CB-8C62F791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E9909CF-74AF-DD0A-8A30-F381A446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1CA886E-AB73-D595-7493-7DD2CC1A9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6050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A21FAD-02A4-CC63-8FF0-1F1612C2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F4A46ED-0762-0A61-3793-0E96A0B82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79ECE5-23C2-951C-9E87-F8ED836F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13A107C-B300-F8D7-F9ED-B2E1C2D81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8D9F370-36B8-4057-2E93-65A7CC22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825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4F23BA-BE39-3F5F-7034-C182A924A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94C18DB-CF3B-D2CE-65F7-54C787708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59C159A-F16D-09F4-05C4-C83AD228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CFDA799-193A-422B-6ED2-EC1212E42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ABCB398-1F96-1A14-EEB2-43814678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0132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3AF9A4-949A-5EEE-768B-73B5C855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FB7331-16A5-11C8-B377-6F3FA4C700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CCDCD14-6F15-B1A8-B948-BD73222FB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4D06415-AB25-660D-FA3F-8B307F2E6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0336B2D-D0B2-D748-8A2C-FDFDAFE4C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3A5F95D-95F2-B662-BB18-CFEF2EA28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1517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F7F2EA-2F88-187F-B597-1F793C66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09A0978D-E866-41F3-A5FD-BF4BD7594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571332D-0642-75F7-B9B1-FF9F12C2D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D6577224-E13D-4C46-F691-B3D57E4BE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6A9BEE2-2947-DC96-5928-841BB29D51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7CA79D91-26F0-E85F-221D-8EAB37BA5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2A435CD-5846-40BC-3BAE-66E76A464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1E79D11-A490-FEBC-FB62-9E0E3974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351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9E1314-D232-4979-E3F9-531B892E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6250FAA-5C8A-AE5A-4042-BF2F2105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39F7092-9F14-5DFE-DC31-F17FCBB00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431D0D4-297C-A404-AD0B-C521E169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7614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6259C9A-C0FB-9A04-74F8-F23401952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0B1BDC3-1E49-35DA-E9C9-23BA41496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705C8F1A-24DB-9D71-A429-3042F2A9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405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E64B6BA-B7B4-AC77-B57E-1815E6BC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B692EAC-DBA7-3E43-16C7-07E6B5980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32F73EC-AC93-5176-899E-290F48510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F20B737-B8F0-5E4F-9168-58C0E92D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C6C8CFD-555F-2A5A-7DE3-B2DAA8E1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EE99A43-ECB7-0626-E08F-11B5D523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360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47312C-E8F6-B2C3-86A6-B6A5E703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A66E5AD-E422-FE9A-B722-31E5A6060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FA543E1-34ED-9B43-C01A-60003EF7B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916531E-B915-DEA4-D229-0E60FAD29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FE87D72-A709-3F02-2445-36013AD45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6C46181-9AEF-10AE-6CCF-4410D186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799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2A8430A-78C5-3D16-3356-05BA9C7A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EB10486-940B-6F10-992A-090CC83B1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35ACBB3-3DE3-58EB-104C-5E09C1EF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D752801-119A-2CFE-9D10-319BA6F9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63B6DD8-C649-34F9-1070-A0FF8A73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883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D6594B0-689E-C597-400E-2AF09F089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795D3DB-946D-9B0E-9B63-E79C787BF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A2637BA-8325-59BF-8ABF-5B5D422E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4D198D-C138-5FAE-AFF0-03CE3656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385A72C-A7D8-50E5-3AB8-A714A23D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79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CD3C4BAD-EAE7-F4A4-D0B1-EB2B0BF3E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52F3632-F936-CA1C-995A-7B311C077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FB31E4E-8D74-6E96-EA3C-CE52C142F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E0405-852A-45DA-9AE5-938FA56BDD69}" type="datetimeFigureOut">
              <a:rPr lang="tr-TR" smtClean="0"/>
              <a:t>8.09.2026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7247D53-5C3D-DA59-183A-E7460D109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C8C63CB-3D7F-BE85-AD04-BAD876496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AA8F6-95E7-4DF3-8596-1A784F392C8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107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5B51E7C6-8F67-E554-669F-3E6CCC840916}"/>
              </a:ext>
            </a:extLst>
          </p:cNvPr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3B09F87-236E-1C98-B94C-6C4659F7D6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502920"/>
            <a:ext cx="3017520" cy="649224"/>
          </a:xfrm>
          <a:prstGeom prst="rect">
            <a:avLst/>
          </a:prstGeom>
        </p:spPr>
      </p:pic>
      <p:sp>
        <p:nvSpPr>
          <p:cNvPr id="5" name="Dikdörtgen: Köşeleri Yuvarlatılmış 4">
            <a:extLst>
              <a:ext uri="{FF2B5EF4-FFF2-40B4-BE49-F238E27FC236}">
                <a16:creationId xmlns:a16="http://schemas.microsoft.com/office/drawing/2014/main" id="{69BB6ED4-BE2A-5232-FD5E-988A47E24149}"/>
              </a:ext>
            </a:extLst>
          </p:cNvPr>
          <p:cNvSpPr/>
          <p:nvPr/>
        </p:nvSpPr>
        <p:spPr>
          <a:xfrm>
            <a:off x="658368" y="1828800"/>
            <a:ext cx="164592" cy="1828800"/>
          </a:xfrm>
          <a:prstGeom prst="round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0A78C1D-5B34-B3CB-D217-B6CE581FC601}"/>
              </a:ext>
            </a:extLst>
          </p:cNvPr>
          <p:cNvSpPr txBox="1"/>
          <p:nvPr/>
        </p:nvSpPr>
        <p:spPr>
          <a:xfrm>
            <a:off x="1097280" y="1847088"/>
            <a:ext cx="8138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3100" b="1">
                <a:solidFill>
                  <a:srgbClr val="4B5F73"/>
                </a:solidFill>
                <a:latin typeface="Aptos" panose="020B0004020202020204" pitchFamily="34" charset="0"/>
              </a:rPr>
              <a:t>Kripto Kod Kontrol
Otomasyon Sistemi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22A0743-1B6E-58FF-9AC4-7E4D09C23D8D}"/>
              </a:ext>
            </a:extLst>
          </p:cNvPr>
          <p:cNvSpPr txBox="1"/>
          <p:nvPr/>
        </p:nvSpPr>
        <p:spPr>
          <a:xfrm>
            <a:off x="1124712" y="3127248"/>
            <a:ext cx="67665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700">
                <a:solidFill>
                  <a:srgbClr val="66788A"/>
                </a:solidFill>
                <a:latin typeface="Aptos" panose="020B0004020202020204" pitchFamily="34" charset="0"/>
              </a:rPr>
              <a:t>Yetkili Kullanıcı Kılavuzu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DC9E32C-2CD1-78E6-89D9-A1E058505CBA}"/>
              </a:ext>
            </a:extLst>
          </p:cNvPr>
          <p:cNvSpPr txBox="1"/>
          <p:nvPr/>
        </p:nvSpPr>
        <p:spPr>
          <a:xfrm>
            <a:off x="1124712" y="3703320"/>
            <a:ext cx="78638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100">
                <a:solidFill>
                  <a:srgbClr val="94A3B3"/>
                </a:solidFill>
                <a:latin typeface="Aptos" panose="020B0004020202020204" pitchFamily="34" charset="0"/>
              </a:rPr>
              <a:t>Siparişten üretime, kod doğrulamadan raporlamaya kadar temel kullanıcı işlemleri.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8FDF82D9-23F2-BA4F-1AD7-A0ED6C1A370A}"/>
              </a:ext>
            </a:extLst>
          </p:cNvPr>
          <p:cNvSpPr/>
          <p:nvPr/>
        </p:nvSpPr>
        <p:spPr>
          <a:xfrm>
            <a:off x="9418320" y="1828800"/>
            <a:ext cx="274319" cy="274320"/>
          </a:xfrm>
          <a:prstGeom prst="roundRect">
            <a:avLst/>
          </a:prstGeom>
          <a:solidFill>
            <a:srgbClr val="5A8D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Dikdörtgen: Köşeleri Yuvarlatılmış 9">
            <a:extLst>
              <a:ext uri="{FF2B5EF4-FFF2-40B4-BE49-F238E27FC236}">
                <a16:creationId xmlns:a16="http://schemas.microsoft.com/office/drawing/2014/main" id="{DED7162C-458D-3150-5390-E513D1028D7F}"/>
              </a:ext>
            </a:extLst>
          </p:cNvPr>
          <p:cNvSpPr/>
          <p:nvPr/>
        </p:nvSpPr>
        <p:spPr>
          <a:xfrm>
            <a:off x="10570464" y="1828800"/>
            <a:ext cx="274320" cy="274320"/>
          </a:xfrm>
          <a:prstGeom prst="round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FF5DF41B-F48A-153D-1B64-A1D924F7072D}"/>
              </a:ext>
            </a:extLst>
          </p:cNvPr>
          <p:cNvSpPr/>
          <p:nvPr/>
        </p:nvSpPr>
        <p:spPr>
          <a:xfrm>
            <a:off x="10186416" y="2212848"/>
            <a:ext cx="274320" cy="274320"/>
          </a:xfrm>
          <a:prstGeom prst="round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Dikdörtgen: Köşeleri Yuvarlatılmış 11">
            <a:extLst>
              <a:ext uri="{FF2B5EF4-FFF2-40B4-BE49-F238E27FC236}">
                <a16:creationId xmlns:a16="http://schemas.microsoft.com/office/drawing/2014/main" id="{959A01F6-D2EF-1D91-A88E-0F0863C47F2E}"/>
              </a:ext>
            </a:extLst>
          </p:cNvPr>
          <p:cNvSpPr/>
          <p:nvPr/>
        </p:nvSpPr>
        <p:spPr>
          <a:xfrm>
            <a:off x="9802368" y="2596896"/>
            <a:ext cx="274320" cy="274320"/>
          </a:xfrm>
          <a:prstGeom prst="round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52D9D9DF-586F-D9DA-C452-4F75612CAE05}"/>
              </a:ext>
            </a:extLst>
          </p:cNvPr>
          <p:cNvSpPr/>
          <p:nvPr/>
        </p:nvSpPr>
        <p:spPr>
          <a:xfrm>
            <a:off x="10186416" y="2596896"/>
            <a:ext cx="274320" cy="274320"/>
          </a:xfrm>
          <a:prstGeom prst="roundRect">
            <a:avLst/>
          </a:prstGeom>
          <a:solidFill>
            <a:srgbClr val="5A8D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0A20EF80-A070-15DA-43A4-0D651A17892C}"/>
              </a:ext>
            </a:extLst>
          </p:cNvPr>
          <p:cNvSpPr/>
          <p:nvPr/>
        </p:nvSpPr>
        <p:spPr>
          <a:xfrm>
            <a:off x="10570464" y="2596896"/>
            <a:ext cx="274320" cy="274320"/>
          </a:xfrm>
          <a:prstGeom prst="round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Dikdörtgen: Köşeleri Yuvarlatılmış 14">
            <a:extLst>
              <a:ext uri="{FF2B5EF4-FFF2-40B4-BE49-F238E27FC236}">
                <a16:creationId xmlns:a16="http://schemas.microsoft.com/office/drawing/2014/main" id="{3651946A-6B0B-26B6-AB61-702FBB5FEFA0}"/>
              </a:ext>
            </a:extLst>
          </p:cNvPr>
          <p:cNvSpPr/>
          <p:nvPr/>
        </p:nvSpPr>
        <p:spPr>
          <a:xfrm>
            <a:off x="10954512" y="2596896"/>
            <a:ext cx="274320" cy="274320"/>
          </a:xfrm>
          <a:prstGeom prst="roundRect">
            <a:avLst/>
          </a:prstGeom>
          <a:solidFill>
            <a:srgbClr val="5A8D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959DDA63-013F-FE50-5DCB-3C5E20B016C4}"/>
              </a:ext>
            </a:extLst>
          </p:cNvPr>
          <p:cNvSpPr/>
          <p:nvPr/>
        </p:nvSpPr>
        <p:spPr>
          <a:xfrm>
            <a:off x="9418320" y="2980944"/>
            <a:ext cx="274319" cy="274320"/>
          </a:xfrm>
          <a:prstGeom prst="round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7" name="Dikdörtgen: Köşeleri Yuvarlatılmış 16">
            <a:extLst>
              <a:ext uri="{FF2B5EF4-FFF2-40B4-BE49-F238E27FC236}">
                <a16:creationId xmlns:a16="http://schemas.microsoft.com/office/drawing/2014/main" id="{268FFFB8-0B5C-BCAF-94FD-1B442AFDBA3A}"/>
              </a:ext>
            </a:extLst>
          </p:cNvPr>
          <p:cNvSpPr/>
          <p:nvPr/>
        </p:nvSpPr>
        <p:spPr>
          <a:xfrm>
            <a:off x="10570464" y="2980944"/>
            <a:ext cx="274320" cy="274320"/>
          </a:xfrm>
          <a:prstGeom prst="roundRect">
            <a:avLst/>
          </a:prstGeom>
          <a:solidFill>
            <a:srgbClr val="5A8D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Dikdörtgen: Köşeleri Yuvarlatılmış 17">
            <a:extLst>
              <a:ext uri="{FF2B5EF4-FFF2-40B4-BE49-F238E27FC236}">
                <a16:creationId xmlns:a16="http://schemas.microsoft.com/office/drawing/2014/main" id="{99A5C1DE-F666-9422-445C-F464A8AC184D}"/>
              </a:ext>
            </a:extLst>
          </p:cNvPr>
          <p:cNvSpPr/>
          <p:nvPr/>
        </p:nvSpPr>
        <p:spPr>
          <a:xfrm>
            <a:off x="10186416" y="3364992"/>
            <a:ext cx="274320" cy="274320"/>
          </a:xfrm>
          <a:prstGeom prst="roundRect">
            <a:avLst/>
          </a:prstGeom>
          <a:solidFill>
            <a:srgbClr val="5A8D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0" name="Resim 19">
            <a:extLst>
              <a:ext uri="{FF2B5EF4-FFF2-40B4-BE49-F238E27FC236}">
                <a16:creationId xmlns:a16="http://schemas.microsoft.com/office/drawing/2014/main" id="{5191D688-332E-2528-3EBA-75BB2795EE3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160" y="6144768"/>
            <a:ext cx="2240280" cy="4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73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818FF8EF-8F18-02E5-B87F-1657F2B004D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C3C34D2C-014F-7B2B-3282-97A086E4A453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1. Genel durumu izleyin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7D7FD23-1BB8-7AD6-B2EF-D712EB434639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Kod havuzunun özetini ve sipariş bazlı güncel durumu tek ekranda takip edin.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71AA780B-0501-674D-A890-924EDE09EB93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1591470D-FE85-627C-7091-5B81CC54C2D7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AA04A56-C232-089B-52DC-58C5F7CBB5A5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013C5022-D674-E839-4A07-8071461A73F8}"/>
              </a:ext>
            </a:extLst>
          </p:cNvPr>
          <p:cNvSpPr/>
          <p:nvPr/>
        </p:nvSpPr>
        <p:spPr>
          <a:xfrm>
            <a:off x="402336" y="1753745"/>
            <a:ext cx="7891272" cy="379856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3AB2A2B0-672C-02AC-5793-C9807C676A4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2" y="1790322"/>
            <a:ext cx="7818120" cy="372541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0A35AFE-CF29-4673-A46B-93EF76A63181}"/>
              </a:ext>
            </a:extLst>
          </p:cNvPr>
          <p:cNvSpPr/>
          <p:nvPr/>
        </p:nvSpPr>
        <p:spPr>
          <a:xfrm>
            <a:off x="4183380" y="1852058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87E938-68D6-ED8E-9DC2-E19A456BC2DF}"/>
              </a:ext>
            </a:extLst>
          </p:cNvPr>
          <p:cNvSpPr/>
          <p:nvPr/>
        </p:nvSpPr>
        <p:spPr>
          <a:xfrm>
            <a:off x="4183380" y="3644836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D51684B-655B-D553-3480-066E8B4D0C57}"/>
              </a:ext>
            </a:extLst>
          </p:cNvPr>
          <p:cNvSpPr/>
          <p:nvPr/>
        </p:nvSpPr>
        <p:spPr>
          <a:xfrm>
            <a:off x="8458200" y="1901952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5CDAB64C-2151-D909-572B-D140C9AC2DCC}"/>
              </a:ext>
            </a:extLst>
          </p:cNvPr>
          <p:cNvSpPr txBox="1"/>
          <p:nvPr/>
        </p:nvSpPr>
        <p:spPr>
          <a:xfrm>
            <a:off x="8887968" y="1892808"/>
            <a:ext cx="28163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Kod durumu özeti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7FAAB477-B61A-975C-0DC3-16C16B666B6E}"/>
              </a:ext>
            </a:extLst>
          </p:cNvPr>
          <p:cNvSpPr txBox="1"/>
          <p:nvPr/>
        </p:nvSpPr>
        <p:spPr>
          <a:xfrm>
            <a:off x="8887968" y="2130552"/>
            <a:ext cx="28163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Toplam Kod, Üretilen, Fire, </a:t>
            </a:r>
            <a:r>
              <a:rPr lang="tr-TR" sz="820" dirty="0" err="1">
                <a:solidFill>
                  <a:srgbClr val="66788A"/>
                </a:solidFill>
                <a:latin typeface="Aptos" panose="020B0004020202020204" pitchFamily="34" charset="0"/>
              </a:rPr>
              <a:t>Reject</a:t>
            </a:r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 Kurtarma, </a:t>
            </a:r>
            <a:r>
              <a:rPr lang="tr-TR" sz="820" dirty="0" err="1">
                <a:solidFill>
                  <a:srgbClr val="66788A"/>
                </a:solidFill>
                <a:latin typeface="Aptos" panose="020B0004020202020204" pitchFamily="34" charset="0"/>
              </a:rPr>
              <a:t>Available</a:t>
            </a:r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, </a:t>
            </a:r>
            <a:r>
              <a:rPr lang="tr-TR" sz="820" dirty="0" err="1">
                <a:solidFill>
                  <a:srgbClr val="66788A"/>
                </a:solidFill>
                <a:latin typeface="Aptos" panose="020B0004020202020204" pitchFamily="34" charset="0"/>
              </a:rPr>
              <a:t>Allocated</a:t>
            </a:r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 sayılarını birlikte gösterir.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6A3268E-AF49-E224-01CD-ADA875F8D779}"/>
              </a:ext>
            </a:extLst>
          </p:cNvPr>
          <p:cNvSpPr/>
          <p:nvPr/>
        </p:nvSpPr>
        <p:spPr>
          <a:xfrm>
            <a:off x="8458200" y="3319272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3FAC6C2B-1F07-82C3-54CB-3A40ED6B98BB}"/>
              </a:ext>
            </a:extLst>
          </p:cNvPr>
          <p:cNvSpPr txBox="1"/>
          <p:nvPr/>
        </p:nvSpPr>
        <p:spPr>
          <a:xfrm>
            <a:off x="8887968" y="3310128"/>
            <a:ext cx="28163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 dirty="0">
                <a:solidFill>
                  <a:srgbClr val="4B5F73"/>
                </a:solidFill>
                <a:latin typeface="Aptos" panose="020B0004020202020204" pitchFamily="34" charset="0"/>
              </a:rPr>
              <a:t>Satış siparişleri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A5EE158C-7E9A-9CD0-791B-8CCDB7DC93FF}"/>
              </a:ext>
            </a:extLst>
          </p:cNvPr>
          <p:cNvSpPr txBox="1"/>
          <p:nvPr/>
        </p:nvSpPr>
        <p:spPr>
          <a:xfrm>
            <a:off x="8887968" y="3547872"/>
            <a:ext cx="281635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Bir sipariş satırı seçildiğinde aşağıdaki grafikler ilgili siparişe göre güncellenir.</a:t>
            </a:r>
          </a:p>
        </p:txBody>
      </p:sp>
    </p:spTree>
    <p:extLst>
      <p:ext uri="{BB962C8B-B14F-4D97-AF65-F5344CB8AC3E}">
        <p14:creationId xmlns:p14="http://schemas.microsoft.com/office/powerpoint/2010/main" val="214184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F7A70D5A-46DF-3200-9A31-16A876B6A40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F88178F4-2FDD-11FF-C1FA-5CBE60C66A8C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2. Kod dağılımını ve üretim eğilimini inceleyin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47E2BC14-FCBB-6968-9A72-391693993B08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Grafikleri tüm kodlar veya seçilen satış siparişi kapsamında değerlendirin.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5C1DA27B-7BE3-7505-5822-5604FF3CF2F9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424770E6-E1BF-089F-BE47-F22A3C1E173F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5FE6892-1D4D-FF04-17D7-5029A96EBFB5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D4B86D94-2E7F-45F7-60C1-8B0890CD6416}"/>
              </a:ext>
            </a:extLst>
          </p:cNvPr>
          <p:cNvSpPr/>
          <p:nvPr/>
        </p:nvSpPr>
        <p:spPr>
          <a:xfrm>
            <a:off x="420624" y="1285304"/>
            <a:ext cx="7708392" cy="484517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FCB2AA0A-D2DD-3F0B-04A9-5D112F29FD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21879"/>
            <a:ext cx="7635240" cy="477202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ACD8484-8837-DB28-046D-4B32CA971112}"/>
              </a:ext>
            </a:extLst>
          </p:cNvPr>
          <p:cNvSpPr/>
          <p:nvPr/>
        </p:nvSpPr>
        <p:spPr>
          <a:xfrm>
            <a:off x="4443984" y="1792225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0A1F28-C048-3F80-8D9D-483D8ACBC47C}"/>
              </a:ext>
            </a:extLst>
          </p:cNvPr>
          <p:cNvSpPr/>
          <p:nvPr/>
        </p:nvSpPr>
        <p:spPr>
          <a:xfrm>
            <a:off x="6848856" y="1792225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147D3EE-7C79-EC99-EECD-2E015998B322}"/>
              </a:ext>
            </a:extLst>
          </p:cNvPr>
          <p:cNvSpPr/>
          <p:nvPr/>
        </p:nvSpPr>
        <p:spPr>
          <a:xfrm>
            <a:off x="4443984" y="4026038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D309CC2-08D0-8F83-F5A4-88295A87234D}"/>
              </a:ext>
            </a:extLst>
          </p:cNvPr>
          <p:cNvSpPr/>
          <p:nvPr/>
        </p:nvSpPr>
        <p:spPr>
          <a:xfrm>
            <a:off x="8366760" y="1417320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57643256-7EF0-FBFA-434B-D1B743F7600F}"/>
              </a:ext>
            </a:extLst>
          </p:cNvPr>
          <p:cNvSpPr txBox="1"/>
          <p:nvPr/>
        </p:nvSpPr>
        <p:spPr>
          <a:xfrm>
            <a:off x="8796528" y="1408176"/>
            <a:ext cx="29535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Kod Durum Dağılımı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A0B9A33C-9292-7B30-92C9-1114F19520B7}"/>
              </a:ext>
            </a:extLst>
          </p:cNvPr>
          <p:cNvSpPr txBox="1"/>
          <p:nvPr/>
        </p:nvSpPr>
        <p:spPr>
          <a:xfrm>
            <a:off x="8796528" y="1645920"/>
            <a:ext cx="29535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Kodların durumlara göre adet ve yüzde dağılımını gösterir.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909C4C3-9132-277D-4311-92639EA203B1}"/>
              </a:ext>
            </a:extLst>
          </p:cNvPr>
          <p:cNvSpPr/>
          <p:nvPr/>
        </p:nvSpPr>
        <p:spPr>
          <a:xfrm>
            <a:off x="8366760" y="2834640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422A1307-A390-49F5-BEF6-8B653F2CDC23}"/>
              </a:ext>
            </a:extLst>
          </p:cNvPr>
          <p:cNvSpPr txBox="1"/>
          <p:nvPr/>
        </p:nvSpPr>
        <p:spPr>
          <a:xfrm>
            <a:off x="8796528" y="2825496"/>
            <a:ext cx="29535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 dirty="0">
                <a:solidFill>
                  <a:srgbClr val="4B5F73"/>
                </a:solidFill>
                <a:latin typeface="Aptos" panose="020B0004020202020204" pitchFamily="34" charset="0"/>
              </a:rPr>
              <a:t>Durumların anlamı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4EDE29AE-2D05-C06C-B525-1F8147310254}"/>
              </a:ext>
            </a:extLst>
          </p:cNvPr>
          <p:cNvSpPr txBox="1"/>
          <p:nvPr/>
        </p:nvSpPr>
        <p:spPr>
          <a:xfrm>
            <a:off x="8796528" y="3063240"/>
            <a:ext cx="2953512" cy="10332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 b="1" dirty="0" err="1">
                <a:solidFill>
                  <a:srgbClr val="66788A"/>
                </a:solidFill>
                <a:latin typeface="Aptos" panose="020B0004020202020204" pitchFamily="34" charset="0"/>
              </a:rPr>
              <a:t>Available</a:t>
            </a:r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, henüz herhangi bir planlı siparişe atanmamış ve kullanıma hazır;</a:t>
            </a:r>
            <a:b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</a:br>
            <a:r>
              <a:rPr lang="tr-TR" sz="820" b="1" dirty="0" err="1">
                <a:solidFill>
                  <a:srgbClr val="66788A"/>
                </a:solidFill>
                <a:latin typeface="Aptos" panose="020B0004020202020204" pitchFamily="34" charset="0"/>
              </a:rPr>
              <a:t>Allocated</a:t>
            </a:r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, bir planlı siparişe atanmış ancak henüz üretimde kullanılmamış;</a:t>
            </a:r>
            <a:b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</a:br>
            <a:r>
              <a:rPr lang="tr-TR" sz="820" b="1" dirty="0" err="1">
                <a:solidFill>
                  <a:srgbClr val="66788A"/>
                </a:solidFill>
                <a:latin typeface="Aptos" panose="020B0004020202020204" pitchFamily="34" charset="0"/>
              </a:rPr>
              <a:t>ProducedOk</a:t>
            </a:r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, üretimi başarıyla tamamlanan;</a:t>
            </a:r>
            <a:b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</a:br>
            <a:r>
              <a:rPr lang="tr-TR" sz="820" b="1" dirty="0" err="1">
                <a:solidFill>
                  <a:srgbClr val="66788A"/>
                </a:solidFill>
                <a:latin typeface="Aptos" panose="020B0004020202020204" pitchFamily="34" charset="0"/>
              </a:rPr>
              <a:t>Reject</a:t>
            </a:r>
            <a:r>
              <a:rPr lang="tr-TR" sz="820" b="1" dirty="0">
                <a:solidFill>
                  <a:srgbClr val="66788A"/>
                </a:solidFill>
                <a:latin typeface="Aptos" panose="020B0004020202020204" pitchFamily="34" charset="0"/>
              </a:rPr>
              <a:t> Kurtarma</a:t>
            </a:r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, </a:t>
            </a:r>
            <a:r>
              <a:rPr lang="tr-TR" sz="820" dirty="0" err="1">
                <a:solidFill>
                  <a:srgbClr val="66788A"/>
                </a:solidFill>
                <a:latin typeface="Aptos" panose="020B0004020202020204" pitchFamily="34" charset="0"/>
              </a:rPr>
              <a:t>reject</a:t>
            </a:r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 ünitesinden yeniden üretime kazandırılan;</a:t>
            </a:r>
            <a:b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</a:br>
            <a:r>
              <a:rPr lang="tr-TR" sz="820" b="1" dirty="0" err="1">
                <a:solidFill>
                  <a:srgbClr val="66788A"/>
                </a:solidFill>
                <a:latin typeface="Aptos" panose="020B0004020202020204" pitchFamily="34" charset="0"/>
              </a:rPr>
              <a:t>Scrap</a:t>
            </a:r>
            <a:r>
              <a:rPr lang="tr-TR" sz="820" b="1" dirty="0">
                <a:solidFill>
                  <a:srgbClr val="66788A"/>
                </a:solidFill>
                <a:latin typeface="Aptos" panose="020B0004020202020204" pitchFamily="34" charset="0"/>
              </a:rPr>
              <a:t> </a:t>
            </a:r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ise fireye ayrılan kodları ifade eder.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FB8BA29-5842-22E3-8545-802A25A8ED84}"/>
              </a:ext>
            </a:extLst>
          </p:cNvPr>
          <p:cNvSpPr/>
          <p:nvPr/>
        </p:nvSpPr>
        <p:spPr>
          <a:xfrm>
            <a:off x="8366760" y="4251960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897D247E-0DC4-0AC0-11B4-7E98CD77BE88}"/>
              </a:ext>
            </a:extLst>
          </p:cNvPr>
          <p:cNvSpPr txBox="1"/>
          <p:nvPr/>
        </p:nvSpPr>
        <p:spPr>
          <a:xfrm>
            <a:off x="8796528" y="4242816"/>
            <a:ext cx="29535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Üretilen Kodlar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6E388A0B-BE02-1039-BF46-7AFE0D9582A9}"/>
              </a:ext>
            </a:extLst>
          </p:cNvPr>
          <p:cNvSpPr txBox="1"/>
          <p:nvPr/>
        </p:nvSpPr>
        <p:spPr>
          <a:xfrm>
            <a:off x="8796528" y="4480560"/>
            <a:ext cx="29535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 dirty="0">
                <a:solidFill>
                  <a:srgbClr val="66788A"/>
                </a:solidFill>
                <a:latin typeface="Aptos" panose="020B0004020202020204" pitchFamily="34" charset="0"/>
              </a:rPr>
              <a:t>Üretilen kod miktarını günlük, haftalık, aylık veya yıllık dönemlerde karşılaştırın.</a:t>
            </a:r>
          </a:p>
        </p:txBody>
      </p:sp>
    </p:spTree>
    <p:extLst>
      <p:ext uri="{BB962C8B-B14F-4D97-AF65-F5344CB8AC3E}">
        <p14:creationId xmlns:p14="http://schemas.microsoft.com/office/powerpoint/2010/main" val="1684951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C8AAA2BD-5EF2-9CAA-3980-4C87354A811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E5FCB67-02EF-7CCD-A99D-3ECF455FA1B0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3. Satış siparişlerini yönetin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093BB76A-A56C-F015-8364-1BC84F8F80BA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Siparişleri görüntüleyin, durumlarını takip edin ve gerekli işlemleri başlatın.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D1C33DC1-7978-5285-C1DD-58A96C356FB4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0193A0ED-7CEA-D306-AA3A-982AE03520B1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43CEA69D-F6E2-AE7A-2E47-C1F5CE1F4697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228E6944-12D8-0073-8D06-3CD69C4714AA}"/>
              </a:ext>
            </a:extLst>
          </p:cNvPr>
          <p:cNvSpPr/>
          <p:nvPr/>
        </p:nvSpPr>
        <p:spPr>
          <a:xfrm>
            <a:off x="493776" y="1203688"/>
            <a:ext cx="11183112" cy="33990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C18E3EAC-2F4C-59ED-6CE6-A80DDCC75B7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240264"/>
            <a:ext cx="11109960" cy="332591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9885113-201A-BFFA-A4A0-3FA31FD88527}"/>
              </a:ext>
            </a:extLst>
          </p:cNvPr>
          <p:cNvSpPr/>
          <p:nvPr/>
        </p:nvSpPr>
        <p:spPr>
          <a:xfrm>
            <a:off x="11123676" y="1929384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E8BF419-E57D-E303-776A-D1F8DF0B5190}"/>
              </a:ext>
            </a:extLst>
          </p:cNvPr>
          <p:cNvSpPr/>
          <p:nvPr/>
        </p:nvSpPr>
        <p:spPr>
          <a:xfrm>
            <a:off x="9464040" y="2803975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E755DE-86B0-38F6-0CF0-418F47D489F2}"/>
              </a:ext>
            </a:extLst>
          </p:cNvPr>
          <p:cNvSpPr/>
          <p:nvPr/>
        </p:nvSpPr>
        <p:spPr>
          <a:xfrm>
            <a:off x="10689336" y="2799403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E6C1C2-CA50-7009-BA1B-EA4F6C4809A1}"/>
              </a:ext>
            </a:extLst>
          </p:cNvPr>
          <p:cNvSpPr/>
          <p:nvPr/>
        </p:nvSpPr>
        <p:spPr>
          <a:xfrm>
            <a:off x="594360" y="4983480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851F0D59-CFE7-F134-5C71-CB5871C89046}"/>
              </a:ext>
            </a:extLst>
          </p:cNvPr>
          <p:cNvSpPr txBox="1"/>
          <p:nvPr/>
        </p:nvSpPr>
        <p:spPr>
          <a:xfrm>
            <a:off x="1005840" y="4965192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Yeni Sipariş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7577965E-2EFF-4FE9-64BF-5F61791832E4}"/>
              </a:ext>
            </a:extLst>
          </p:cNvPr>
          <p:cNvSpPr txBox="1"/>
          <p:nvPr/>
        </p:nvSpPr>
        <p:spPr>
          <a:xfrm>
            <a:off x="1005840" y="5202936"/>
            <a:ext cx="31821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 dirty="0">
                <a:solidFill>
                  <a:srgbClr val="66788A"/>
                </a:solidFill>
                <a:latin typeface="Aptos" panose="020B0004020202020204" pitchFamily="34" charset="0"/>
              </a:rPr>
              <a:t>Yeni satış siparişi ve kripto kod yükleme işlemini başlatır.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E57A33-9639-5383-B5E3-5FEC335B6761}"/>
              </a:ext>
            </a:extLst>
          </p:cNvPr>
          <p:cNvSpPr/>
          <p:nvPr/>
        </p:nvSpPr>
        <p:spPr>
          <a:xfrm>
            <a:off x="4251960" y="4983480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96368646-0737-729A-782A-E15718388D75}"/>
              </a:ext>
            </a:extLst>
          </p:cNvPr>
          <p:cNvSpPr txBox="1"/>
          <p:nvPr/>
        </p:nvSpPr>
        <p:spPr>
          <a:xfrm>
            <a:off x="4663440" y="4965192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Sipariş durumu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B5221866-2B21-452D-3FB7-984AF2593502}"/>
              </a:ext>
            </a:extLst>
          </p:cNvPr>
          <p:cNvSpPr txBox="1"/>
          <p:nvPr/>
        </p:nvSpPr>
        <p:spPr>
          <a:xfrm>
            <a:off x="4663440" y="5202936"/>
            <a:ext cx="3182112" cy="4016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 b="1" dirty="0">
                <a:solidFill>
                  <a:srgbClr val="66788A"/>
                </a:solidFill>
                <a:latin typeface="Aptos" panose="020B0004020202020204" pitchFamily="34" charset="0"/>
              </a:rPr>
              <a:t>Pasif</a:t>
            </a:r>
            <a:r>
              <a:rPr lang="tr-TR" sz="780" dirty="0">
                <a:solidFill>
                  <a:srgbClr val="66788A"/>
                </a:solidFill>
                <a:latin typeface="Aptos" panose="020B0004020202020204" pitchFamily="34" charset="0"/>
              </a:rPr>
              <a:t>, henüz üretime başlanmamış siparişi; </a:t>
            </a:r>
            <a:r>
              <a:rPr lang="tr-TR" sz="780" b="1" dirty="0">
                <a:solidFill>
                  <a:srgbClr val="66788A"/>
                </a:solidFill>
                <a:latin typeface="Aptos" panose="020B0004020202020204" pitchFamily="34" charset="0"/>
              </a:rPr>
              <a:t>Aktif</a:t>
            </a:r>
            <a:r>
              <a:rPr lang="tr-TR" sz="780" dirty="0">
                <a:solidFill>
                  <a:srgbClr val="66788A"/>
                </a:solidFill>
                <a:latin typeface="Aptos" panose="020B0004020202020204" pitchFamily="34" charset="0"/>
              </a:rPr>
              <a:t>, üretimi devam eden siparişi; </a:t>
            </a:r>
            <a:r>
              <a:rPr lang="tr-TR" sz="780" b="1" dirty="0">
                <a:solidFill>
                  <a:srgbClr val="66788A"/>
                </a:solidFill>
                <a:latin typeface="Aptos" panose="020B0004020202020204" pitchFamily="34" charset="0"/>
              </a:rPr>
              <a:t>Tamamlandı</a:t>
            </a:r>
            <a:r>
              <a:rPr lang="tr-TR" sz="780" dirty="0">
                <a:solidFill>
                  <a:srgbClr val="66788A"/>
                </a:solidFill>
                <a:latin typeface="Aptos" panose="020B0004020202020204" pitchFamily="34" charset="0"/>
              </a:rPr>
              <a:t> ise üretim süreci sonuçlandırılmış siparişi ifade eder. Aynı anda yalnızca bir sipariş aktif olabilir.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8A6B880-6D4C-A021-0904-1CA422B7D328}"/>
              </a:ext>
            </a:extLst>
          </p:cNvPr>
          <p:cNvSpPr/>
          <p:nvPr/>
        </p:nvSpPr>
        <p:spPr>
          <a:xfrm>
            <a:off x="7909560" y="4983480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7B63352C-C0E6-DDC0-B5F6-26DBD85E67C0}"/>
              </a:ext>
            </a:extLst>
          </p:cNvPr>
          <p:cNvSpPr txBox="1"/>
          <p:nvPr/>
        </p:nvSpPr>
        <p:spPr>
          <a:xfrm>
            <a:off x="8321040" y="4965192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İşlemler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16C3BF23-8F45-3B10-E444-FF41AA06A924}"/>
              </a:ext>
            </a:extLst>
          </p:cNvPr>
          <p:cNvSpPr txBox="1"/>
          <p:nvPr/>
        </p:nvSpPr>
        <p:spPr>
          <a:xfrm>
            <a:off x="8321040" y="5202936"/>
            <a:ext cx="31821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 dirty="0">
                <a:solidFill>
                  <a:srgbClr val="66788A"/>
                </a:solidFill>
                <a:latin typeface="Aptos" panose="020B0004020202020204" pitchFamily="34" charset="0"/>
              </a:rPr>
              <a:t>Sipariş bilgilerini düzenleyin veya siparişi iptal edin.</a:t>
            </a:r>
          </a:p>
        </p:txBody>
      </p:sp>
    </p:spTree>
    <p:extLst>
      <p:ext uri="{BB962C8B-B14F-4D97-AF65-F5344CB8AC3E}">
        <p14:creationId xmlns:p14="http://schemas.microsoft.com/office/powerpoint/2010/main" val="156551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6FF7F4A1-548E-2129-C3DC-D14C2F7607A1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93AD859-D439-D6B7-279E-8754FCADB0BA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4. Yeni satış siparişi oluşturun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3ECB1441-D6B2-0972-0C0A-7E6FA910FCA6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Ürün, miktar, raf ömrü ve kripto kod dosyasını aynı panelde tanımlayın.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C95C6BAF-0756-3577-5EBA-44A3481E4FC5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E5ABFA54-2414-9E49-1B4D-A7D4650835CB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FF3E754-A87E-A56B-4E42-36F5947447A4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5F421DCB-C97C-C3B8-7C88-D18640B0C427}"/>
              </a:ext>
            </a:extLst>
          </p:cNvPr>
          <p:cNvSpPr/>
          <p:nvPr/>
        </p:nvSpPr>
        <p:spPr>
          <a:xfrm>
            <a:off x="8857958" y="1060704"/>
            <a:ext cx="2675205" cy="5422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05A8B62-0BF0-22F4-F9A2-F190F50B09E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534" y="1097280"/>
            <a:ext cx="2602053" cy="534924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2CD2F12-DA61-F530-768C-6552D1844AFD}"/>
              </a:ext>
            </a:extLst>
          </p:cNvPr>
          <p:cNvSpPr/>
          <p:nvPr/>
        </p:nvSpPr>
        <p:spPr>
          <a:xfrm>
            <a:off x="10040112" y="1591869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29F619C-D346-9196-7DD3-F873F29B547C}"/>
              </a:ext>
            </a:extLst>
          </p:cNvPr>
          <p:cNvSpPr/>
          <p:nvPr/>
        </p:nvSpPr>
        <p:spPr>
          <a:xfrm>
            <a:off x="9886800" y="2167941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00DE80-C440-CC44-38D4-4A07744BE8A9}"/>
              </a:ext>
            </a:extLst>
          </p:cNvPr>
          <p:cNvSpPr/>
          <p:nvPr/>
        </p:nvSpPr>
        <p:spPr>
          <a:xfrm>
            <a:off x="9970293" y="2843784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28330F-7D51-B853-B330-E4F72CF05BC9}"/>
              </a:ext>
            </a:extLst>
          </p:cNvPr>
          <p:cNvSpPr/>
          <p:nvPr/>
        </p:nvSpPr>
        <p:spPr>
          <a:xfrm>
            <a:off x="9970293" y="3439483"/>
            <a:ext cx="310896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1E409AA-C484-BE39-53FD-7E1C37984648}"/>
              </a:ext>
            </a:extLst>
          </p:cNvPr>
          <p:cNvSpPr/>
          <p:nvPr/>
        </p:nvSpPr>
        <p:spPr>
          <a:xfrm>
            <a:off x="9970293" y="4167756"/>
            <a:ext cx="310896" cy="310896"/>
          </a:xfrm>
          <a:prstGeom prst="ellipse">
            <a:avLst/>
          </a:prstGeom>
          <a:solidFill>
            <a:srgbClr val="18BCD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C092C04-1226-5041-564F-984E51276837}"/>
              </a:ext>
            </a:extLst>
          </p:cNvPr>
          <p:cNvSpPr/>
          <p:nvPr/>
        </p:nvSpPr>
        <p:spPr>
          <a:xfrm>
            <a:off x="658368" y="1188720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11717AD3-F0B5-679B-3421-A87EFA6B5ECB}"/>
              </a:ext>
            </a:extLst>
          </p:cNvPr>
          <p:cNvSpPr txBox="1"/>
          <p:nvPr/>
        </p:nvSpPr>
        <p:spPr>
          <a:xfrm>
            <a:off x="1088136" y="1179576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Sipariş numaraları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A1ABA01B-20E3-28C1-E24F-14FEEDCEDFDA}"/>
              </a:ext>
            </a:extLst>
          </p:cNvPr>
          <p:cNvSpPr txBox="1"/>
          <p:nvPr/>
        </p:nvSpPr>
        <p:spPr>
          <a:xfrm>
            <a:off x="1088136" y="1417320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Sales Order No sistem tarafından önerilir; Sales Item No varsayılan olarak 1 başlar.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5DA10D9-B6D7-8F92-8280-BF2BCDB99142}"/>
              </a:ext>
            </a:extLst>
          </p:cNvPr>
          <p:cNvSpPr/>
          <p:nvPr/>
        </p:nvSpPr>
        <p:spPr>
          <a:xfrm>
            <a:off x="658368" y="2176272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05F431B7-F9B8-41EE-CBCB-CB86E1BD0483}"/>
              </a:ext>
            </a:extLst>
          </p:cNvPr>
          <p:cNvSpPr txBox="1"/>
          <p:nvPr/>
        </p:nvSpPr>
        <p:spPr>
          <a:xfrm>
            <a:off x="1088136" y="2167128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Ürün bilgileri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077E41E7-453D-A897-59AE-DFB808794400}"/>
              </a:ext>
            </a:extLst>
          </p:cNvPr>
          <p:cNvSpPr txBox="1"/>
          <p:nvPr/>
        </p:nvSpPr>
        <p:spPr>
          <a:xfrm>
            <a:off x="1088136" y="2404872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Material No ve GTIN alanlarına üretilecek ürünü tanımlayan değerleri girin.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316A256-7138-1688-9B54-6312989D660E}"/>
              </a:ext>
            </a:extLst>
          </p:cNvPr>
          <p:cNvSpPr/>
          <p:nvPr/>
        </p:nvSpPr>
        <p:spPr>
          <a:xfrm>
            <a:off x="658368" y="3163824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B64B1116-25FF-B686-D2FE-271B976ACD95}"/>
              </a:ext>
            </a:extLst>
          </p:cNvPr>
          <p:cNvSpPr txBox="1"/>
          <p:nvPr/>
        </p:nvSpPr>
        <p:spPr>
          <a:xfrm>
            <a:off x="1088136" y="3154680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Miktarlar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48C125DA-786B-4704-3800-BAE24E655330}"/>
              </a:ext>
            </a:extLst>
          </p:cNvPr>
          <p:cNvSpPr txBox="1"/>
          <p:nvPr/>
        </p:nvSpPr>
        <p:spPr>
          <a:xfrm>
            <a:off x="1088136" y="3392424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Planned Unit Quantity birim miktarı, Case Quantity siparişin toplam koli adedidir.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F78D4E6-5A41-BF15-DD6F-85F82DDD9DDC}"/>
              </a:ext>
            </a:extLst>
          </p:cNvPr>
          <p:cNvSpPr/>
          <p:nvPr/>
        </p:nvSpPr>
        <p:spPr>
          <a:xfrm>
            <a:off x="658368" y="4151376"/>
            <a:ext cx="310896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141F2136-1A2A-BD61-FDA1-FA40EDA082EC}"/>
              </a:ext>
            </a:extLst>
          </p:cNvPr>
          <p:cNvSpPr txBox="1"/>
          <p:nvPr/>
        </p:nvSpPr>
        <p:spPr>
          <a:xfrm>
            <a:off x="1088136" y="4142232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Raf ömrü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75FE5832-4758-DF1F-11DD-0B4D8B46DAA5}"/>
              </a:ext>
            </a:extLst>
          </p:cNvPr>
          <p:cNvSpPr txBox="1"/>
          <p:nvPr/>
        </p:nvSpPr>
        <p:spPr>
          <a:xfrm>
            <a:off x="1088136" y="4379976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Shelf Life değerini Gün, Hafta, Ay veya Yıl birimiyle tanımlayın. SKT tutulmayacaksa 0 girilebilir.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A033A9A-0555-FD45-5162-FA0248CDF9BF}"/>
              </a:ext>
            </a:extLst>
          </p:cNvPr>
          <p:cNvSpPr/>
          <p:nvPr/>
        </p:nvSpPr>
        <p:spPr>
          <a:xfrm>
            <a:off x="658368" y="5138928"/>
            <a:ext cx="310896" cy="310896"/>
          </a:xfrm>
          <a:prstGeom prst="ellipse">
            <a:avLst/>
          </a:prstGeom>
          <a:solidFill>
            <a:srgbClr val="18BCD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61D447BF-CCD4-859E-F7FC-93294EFE90AE}"/>
              </a:ext>
            </a:extLst>
          </p:cNvPr>
          <p:cNvSpPr txBox="1"/>
          <p:nvPr/>
        </p:nvSpPr>
        <p:spPr>
          <a:xfrm>
            <a:off x="1088136" y="5129784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CSV dosyası</a:t>
            </a:r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88E8FB0B-806E-4F7C-5062-F184BF2A0E34}"/>
              </a:ext>
            </a:extLst>
          </p:cNvPr>
          <p:cNvSpPr txBox="1"/>
          <p:nvPr/>
        </p:nvSpPr>
        <p:spPr>
          <a:xfrm>
            <a:off x="1088136" y="5367528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Her satıra bir kod yazın. 01-21-93 veya 01-21-91-92 yapısındaki kodlar ve %5 fire payı bulunmalıdır.</a:t>
            </a:r>
          </a:p>
        </p:txBody>
      </p:sp>
    </p:spTree>
    <p:extLst>
      <p:ext uri="{BB962C8B-B14F-4D97-AF65-F5344CB8AC3E}">
        <p14:creationId xmlns:p14="http://schemas.microsoft.com/office/powerpoint/2010/main" val="3125592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2CDFC36E-83A5-AEAB-F456-EADB68FDEE9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83EAE07C-E31C-22B1-A3A1-FC3F82EEE175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5. Üretim ve sevkiyat onaylarını izleyin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BA92407-65C4-0682-6AD5-9AF8DDFCFCB8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Siparişin onay sürecini üretimden sevkiyata kadar adım adım takip edin.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34C904F0-D04D-CE50-8489-9634D3DC2F82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7EE84D69-8B72-5D12-9CED-3AF3ADB858FC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4781EB01-D398-C6CD-C4DA-715B5E4E4EEF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C394D66A-3362-37FC-B9B3-5EAA80FE0261}"/>
              </a:ext>
            </a:extLst>
          </p:cNvPr>
          <p:cNvSpPr/>
          <p:nvPr/>
        </p:nvSpPr>
        <p:spPr>
          <a:xfrm>
            <a:off x="549451" y="1060704"/>
            <a:ext cx="11071761" cy="4416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EA80F639-879F-3857-9A83-146360C5D5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27" y="1097280"/>
            <a:ext cx="10998610" cy="43434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5FB3CD72-1EAE-DB7D-0ADC-4266FC4328F7}"/>
              </a:ext>
            </a:extLst>
          </p:cNvPr>
          <p:cNvSpPr/>
          <p:nvPr/>
        </p:nvSpPr>
        <p:spPr>
          <a:xfrm>
            <a:off x="10890503" y="2798064"/>
            <a:ext cx="329183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B687E0B-4815-4CB7-F8FA-CA9F369A79DA}"/>
              </a:ext>
            </a:extLst>
          </p:cNvPr>
          <p:cNvSpPr/>
          <p:nvPr/>
        </p:nvSpPr>
        <p:spPr>
          <a:xfrm>
            <a:off x="10890502" y="3325183"/>
            <a:ext cx="329183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F2A2C1F-E797-F0E4-08C4-5F54B76C2D02}"/>
              </a:ext>
            </a:extLst>
          </p:cNvPr>
          <p:cNvSpPr/>
          <p:nvPr/>
        </p:nvSpPr>
        <p:spPr>
          <a:xfrm>
            <a:off x="10887456" y="3954780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995C79-2E72-7E7E-00AD-441255FADB77}"/>
              </a:ext>
            </a:extLst>
          </p:cNvPr>
          <p:cNvSpPr/>
          <p:nvPr/>
        </p:nvSpPr>
        <p:spPr>
          <a:xfrm>
            <a:off x="621792" y="5532120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541F26F2-3372-729E-F4E6-48289BB5B9D3}"/>
              </a:ext>
            </a:extLst>
          </p:cNvPr>
          <p:cNvSpPr txBox="1"/>
          <p:nvPr/>
        </p:nvSpPr>
        <p:spPr>
          <a:xfrm>
            <a:off x="1033272" y="5513832"/>
            <a:ext cx="3185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Onay Bekliyor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6CBC4942-6187-08B2-6E55-213144481A90}"/>
              </a:ext>
            </a:extLst>
          </p:cNvPr>
          <p:cNvSpPr txBox="1"/>
          <p:nvPr/>
        </p:nvSpPr>
        <p:spPr>
          <a:xfrm>
            <a:off x="1033272" y="5751576"/>
            <a:ext cx="31668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Üretim işlemleri tamamlandığında üretim sorumlusu Üretim Onayı verir.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2666589-7001-65AC-E8B1-075157379D29}"/>
              </a:ext>
            </a:extLst>
          </p:cNvPr>
          <p:cNvSpPr/>
          <p:nvPr/>
        </p:nvSpPr>
        <p:spPr>
          <a:xfrm>
            <a:off x="4264152" y="5532120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947B4990-0613-6F41-633A-319D4C74D2CD}"/>
              </a:ext>
            </a:extLst>
          </p:cNvPr>
          <p:cNvSpPr txBox="1"/>
          <p:nvPr/>
        </p:nvSpPr>
        <p:spPr>
          <a:xfrm>
            <a:off x="4675632" y="5513832"/>
            <a:ext cx="3185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Üretim Onayı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44645148-CDBE-2D31-6C54-EB207F8C29DD}"/>
              </a:ext>
            </a:extLst>
          </p:cNvPr>
          <p:cNvSpPr txBox="1"/>
          <p:nvPr/>
        </p:nvSpPr>
        <p:spPr>
          <a:xfrm>
            <a:off x="4675632" y="5751576"/>
            <a:ext cx="31668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Onaylayan kullanıcı ve tarih görünür; sipariş Sevkiyat Onayı aşamasına geçer.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3D0A36-D2F6-34FE-DBDA-6B0E350B9E54}"/>
              </a:ext>
            </a:extLst>
          </p:cNvPr>
          <p:cNvSpPr/>
          <p:nvPr/>
        </p:nvSpPr>
        <p:spPr>
          <a:xfrm>
            <a:off x="7906512" y="5532120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27BFDB57-90EC-019A-C4D8-3205A8520B13}"/>
              </a:ext>
            </a:extLst>
          </p:cNvPr>
          <p:cNvSpPr txBox="1"/>
          <p:nvPr/>
        </p:nvSpPr>
        <p:spPr>
          <a:xfrm>
            <a:off x="8317992" y="5513832"/>
            <a:ext cx="31851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Sevkiyat Onayı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CCAF3462-7568-CA4F-69D5-D2365F1A7138}"/>
              </a:ext>
            </a:extLst>
          </p:cNvPr>
          <p:cNvSpPr txBox="1"/>
          <p:nvPr/>
        </p:nvSpPr>
        <p:spPr>
          <a:xfrm>
            <a:off x="8317992" y="5751576"/>
            <a:ext cx="31668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Sevkiyat sorumlusu onay verdiğinde onay süreci tamamlanır.</a:t>
            </a:r>
          </a:p>
        </p:txBody>
      </p:sp>
    </p:spTree>
    <p:extLst>
      <p:ext uri="{BB962C8B-B14F-4D97-AF65-F5344CB8AC3E}">
        <p14:creationId xmlns:p14="http://schemas.microsoft.com/office/powerpoint/2010/main" val="242343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A489B42E-2541-40E3-DC2B-78D1CD32F41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657D0DE9-10AE-5086-5C34-C9898D1170AA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6. Sağlam ürünleri üretime kazandırın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616EED29-BE9A-26E3-EE0A-78630351636A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Reject ünitesindeki okunabilir ve sağlam ürünleri ilgili planlı siparişe geri kazandırın.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44BBF2A4-B175-D19A-B508-CB530EA42E0A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3E5E8CBB-29C0-0808-3B60-68985AE5E09D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8696CD4A-F96E-E8C1-E58F-ED6B6B622E28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28997026-C14B-7744-451A-2CAB22F5663F}"/>
              </a:ext>
            </a:extLst>
          </p:cNvPr>
          <p:cNvSpPr/>
          <p:nvPr/>
        </p:nvSpPr>
        <p:spPr>
          <a:xfrm>
            <a:off x="493776" y="1133173"/>
            <a:ext cx="11183112" cy="389671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91B05FD0-263B-EF28-0E87-5E12A227AB4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169749"/>
            <a:ext cx="11109960" cy="382355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AE63A6FC-0DE9-9733-0373-32108034A868}"/>
              </a:ext>
            </a:extLst>
          </p:cNvPr>
          <p:cNvSpPr/>
          <p:nvPr/>
        </p:nvSpPr>
        <p:spPr>
          <a:xfrm>
            <a:off x="5687568" y="2303606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459EC5-DE76-0AEA-C31E-BF9DAB15AB95}"/>
              </a:ext>
            </a:extLst>
          </p:cNvPr>
          <p:cNvSpPr/>
          <p:nvPr/>
        </p:nvSpPr>
        <p:spPr>
          <a:xfrm>
            <a:off x="11036808" y="2303606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7A8F30-BBED-233D-1688-B46E5A795C68}"/>
              </a:ext>
            </a:extLst>
          </p:cNvPr>
          <p:cNvSpPr/>
          <p:nvPr/>
        </p:nvSpPr>
        <p:spPr>
          <a:xfrm>
            <a:off x="10305288" y="3749723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81F61C-7C59-3054-138E-165E1AAAF608}"/>
              </a:ext>
            </a:extLst>
          </p:cNvPr>
          <p:cNvSpPr/>
          <p:nvPr/>
        </p:nvSpPr>
        <p:spPr>
          <a:xfrm>
            <a:off x="11036808" y="4151376"/>
            <a:ext cx="329184" cy="329184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88BEE5-24AD-C8AC-47F7-9B54860796F7}"/>
              </a:ext>
            </a:extLst>
          </p:cNvPr>
          <p:cNvSpPr/>
          <p:nvPr/>
        </p:nvSpPr>
        <p:spPr>
          <a:xfrm>
            <a:off x="566928" y="5257800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FD81C2C-7553-C88A-A10D-60255F2FD9A1}"/>
              </a:ext>
            </a:extLst>
          </p:cNvPr>
          <p:cNvSpPr txBox="1"/>
          <p:nvPr/>
        </p:nvSpPr>
        <p:spPr>
          <a:xfrm>
            <a:off x="978408" y="5239512"/>
            <a:ext cx="22974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Planlı sipariş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24CDA814-268D-865E-7787-3DB3C48A03A6}"/>
              </a:ext>
            </a:extLst>
          </p:cNvPr>
          <p:cNvSpPr txBox="1"/>
          <p:nvPr/>
        </p:nvSpPr>
        <p:spPr>
          <a:xfrm>
            <a:off x="978408" y="5477256"/>
            <a:ext cx="227914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Planlı sipariş numarasını girerek ilgili kodları işleme hazırlayın.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13243B-4B43-2304-1A6E-D7B7CDC3B9E4}"/>
              </a:ext>
            </a:extLst>
          </p:cNvPr>
          <p:cNvSpPr/>
          <p:nvPr/>
        </p:nvSpPr>
        <p:spPr>
          <a:xfrm>
            <a:off x="3321558" y="5257800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969832AC-740B-0FEB-BDBA-4A4B6D321CC1}"/>
              </a:ext>
            </a:extLst>
          </p:cNvPr>
          <p:cNvSpPr txBox="1"/>
          <p:nvPr/>
        </p:nvSpPr>
        <p:spPr>
          <a:xfrm>
            <a:off x="3733038" y="5239512"/>
            <a:ext cx="22974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Kodları okutun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86A5D958-95BC-2D74-5773-18058ADC0353}"/>
              </a:ext>
            </a:extLst>
          </p:cNvPr>
          <p:cNvSpPr txBox="1"/>
          <p:nvPr/>
        </p:nvSpPr>
        <p:spPr>
          <a:xfrm>
            <a:off x="3733038" y="5477256"/>
            <a:ext cx="227914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Sağlam ürünlerin kodlarını okutun; kayıtlar tarih bilgisiyle listeye eklenir.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6A9783-CE85-5614-2CB4-DFB43D91703D}"/>
              </a:ext>
            </a:extLst>
          </p:cNvPr>
          <p:cNvSpPr/>
          <p:nvPr/>
        </p:nvSpPr>
        <p:spPr>
          <a:xfrm>
            <a:off x="6076188" y="5257800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4420555F-DDAF-372D-C6E4-152E302E1630}"/>
              </a:ext>
            </a:extLst>
          </p:cNvPr>
          <p:cNvSpPr txBox="1"/>
          <p:nvPr/>
        </p:nvSpPr>
        <p:spPr>
          <a:xfrm>
            <a:off x="6487668" y="5239512"/>
            <a:ext cx="22974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Listeyi kontrol edin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97CB6C81-6FCB-FFC2-ADE3-F385D3451579}"/>
              </a:ext>
            </a:extLst>
          </p:cNvPr>
          <p:cNvSpPr txBox="1"/>
          <p:nvPr/>
        </p:nvSpPr>
        <p:spPr>
          <a:xfrm>
            <a:off x="6487668" y="5477256"/>
            <a:ext cx="227914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Yanlış okutulan kodları Sil düğmesiyle listeden çıkarın.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468A8C-450C-AC34-BA38-C63443EE36B5}"/>
              </a:ext>
            </a:extLst>
          </p:cNvPr>
          <p:cNvSpPr/>
          <p:nvPr/>
        </p:nvSpPr>
        <p:spPr>
          <a:xfrm>
            <a:off x="8830818" y="5257800"/>
            <a:ext cx="310896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34ABF375-9EAD-8310-5F73-E29FFCCE06E3}"/>
              </a:ext>
            </a:extLst>
          </p:cNvPr>
          <p:cNvSpPr txBox="1"/>
          <p:nvPr/>
        </p:nvSpPr>
        <p:spPr>
          <a:xfrm>
            <a:off x="9242298" y="5239512"/>
            <a:ext cx="229743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Üretime Kazandır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EA37032D-01ED-855E-6C32-80EC6360E5AE}"/>
              </a:ext>
            </a:extLst>
          </p:cNvPr>
          <p:cNvSpPr txBox="1"/>
          <p:nvPr/>
        </p:nvSpPr>
        <p:spPr>
          <a:xfrm>
            <a:off x="9242298" y="5477256"/>
            <a:ext cx="227914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Kontrol edilen kodları yeniden üretilmiş duruma alın.</a:t>
            </a:r>
          </a:p>
        </p:txBody>
      </p:sp>
    </p:spTree>
    <p:extLst>
      <p:ext uri="{BB962C8B-B14F-4D97-AF65-F5344CB8AC3E}">
        <p14:creationId xmlns:p14="http://schemas.microsoft.com/office/powerpoint/2010/main" val="880144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C1359D6B-378E-5EAF-0361-A474AE4999DD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56D8BED2-4B0E-34DF-3BC2-F930FDC63037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7. Hasarlı ürünleri fireye ayırın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03C37797-5E6C-A934-F34E-DE08D8FA8330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Fiziksel olarak kullanılamayacak ürünlerin okunabilir kodlarını fire durumuna alın.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7B6E630E-FA07-A2F9-ACEA-4D431B6EF218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3E72C36B-1A0E-C5E8-08CC-669373A50DC9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52FB8D04-E715-699A-BA41-00EA09E9D1E5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80274AB1-DA46-3735-E3D6-8DA040B55BB2}"/>
              </a:ext>
            </a:extLst>
          </p:cNvPr>
          <p:cNvSpPr/>
          <p:nvPr/>
        </p:nvSpPr>
        <p:spPr>
          <a:xfrm>
            <a:off x="420624" y="1583693"/>
            <a:ext cx="7708392" cy="413867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54111AEC-0CA1-40FE-4A23-03DE6B78CF0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20269"/>
            <a:ext cx="7635240" cy="406551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353C2D83-AA12-9A64-E93E-0482AA583B80}"/>
              </a:ext>
            </a:extLst>
          </p:cNvPr>
          <p:cNvSpPr/>
          <p:nvPr/>
        </p:nvSpPr>
        <p:spPr>
          <a:xfrm>
            <a:off x="7539228" y="2506795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ECEE63-592A-CE5F-FB27-0CACF6FC32B8}"/>
              </a:ext>
            </a:extLst>
          </p:cNvPr>
          <p:cNvSpPr/>
          <p:nvPr/>
        </p:nvSpPr>
        <p:spPr>
          <a:xfrm>
            <a:off x="7539228" y="3484305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1DBD182-40FB-7B4C-2ABB-D217019B0676}"/>
              </a:ext>
            </a:extLst>
          </p:cNvPr>
          <p:cNvSpPr/>
          <p:nvPr/>
        </p:nvSpPr>
        <p:spPr>
          <a:xfrm>
            <a:off x="7543800" y="4471416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10E35E-E041-DDD7-BE7E-2CD77C88D200}"/>
              </a:ext>
            </a:extLst>
          </p:cNvPr>
          <p:cNvSpPr/>
          <p:nvPr/>
        </p:nvSpPr>
        <p:spPr>
          <a:xfrm>
            <a:off x="7539228" y="5120640"/>
            <a:ext cx="329184" cy="329184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8A3C9E-2A14-8148-B4D1-EB1C893D64BE}"/>
              </a:ext>
            </a:extLst>
          </p:cNvPr>
          <p:cNvSpPr/>
          <p:nvPr/>
        </p:nvSpPr>
        <p:spPr>
          <a:xfrm>
            <a:off x="8366760" y="1298448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9FC433DC-20ED-DEF3-3827-02604C394576}"/>
              </a:ext>
            </a:extLst>
          </p:cNvPr>
          <p:cNvSpPr txBox="1"/>
          <p:nvPr/>
        </p:nvSpPr>
        <p:spPr>
          <a:xfrm>
            <a:off x="8796528" y="1289304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Planlı sipariş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E5730AFE-A9C9-A371-3CB3-CB12B00CD6B6}"/>
              </a:ext>
            </a:extLst>
          </p:cNvPr>
          <p:cNvSpPr txBox="1"/>
          <p:nvPr/>
        </p:nvSpPr>
        <p:spPr>
          <a:xfrm>
            <a:off x="8796528" y="1527048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Fire işleminin uygulanacağı planlı siparişi seçin.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5F8F7A-0828-1BB2-A97F-08E116D2CDF1}"/>
              </a:ext>
            </a:extLst>
          </p:cNvPr>
          <p:cNvSpPr/>
          <p:nvPr/>
        </p:nvSpPr>
        <p:spPr>
          <a:xfrm>
            <a:off x="8366760" y="2468880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0BFFDE4B-1B40-74B0-DDC3-A323D3F08047}"/>
              </a:ext>
            </a:extLst>
          </p:cNvPr>
          <p:cNvSpPr txBox="1"/>
          <p:nvPr/>
        </p:nvSpPr>
        <p:spPr>
          <a:xfrm>
            <a:off x="8796528" y="2459736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Kod ekleme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7CF1750A-DAE7-67AB-2129-41527FBBF8FA}"/>
              </a:ext>
            </a:extLst>
          </p:cNvPr>
          <p:cNvSpPr txBox="1"/>
          <p:nvPr/>
        </p:nvSpPr>
        <p:spPr>
          <a:xfrm>
            <a:off x="8796528" y="2697480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Ürün kodunu okutun ve listeye ekleyin.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C6A4D56-E7C6-9BD4-8ED8-DB953245312F}"/>
              </a:ext>
            </a:extLst>
          </p:cNvPr>
          <p:cNvSpPr/>
          <p:nvPr/>
        </p:nvSpPr>
        <p:spPr>
          <a:xfrm>
            <a:off x="8366760" y="3639312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8FFCAD80-6525-4362-B5DB-67F557A08DDB}"/>
              </a:ext>
            </a:extLst>
          </p:cNvPr>
          <p:cNvSpPr txBox="1"/>
          <p:nvPr/>
        </p:nvSpPr>
        <p:spPr>
          <a:xfrm>
            <a:off x="8796528" y="3630168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Kontrol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42D9E3C6-3D4A-3720-B35A-47F3725ACB13}"/>
              </a:ext>
            </a:extLst>
          </p:cNvPr>
          <p:cNvSpPr txBox="1"/>
          <p:nvPr/>
        </p:nvSpPr>
        <p:spPr>
          <a:xfrm>
            <a:off x="8796528" y="3867912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Okutulan kodları ve işlem tarihlerini gözden geçirin; hatalı kaydı silebilirsiniz.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1F4BDC6-A9DA-A0CE-34B5-5BF8CFE8E547}"/>
              </a:ext>
            </a:extLst>
          </p:cNvPr>
          <p:cNvSpPr/>
          <p:nvPr/>
        </p:nvSpPr>
        <p:spPr>
          <a:xfrm>
            <a:off x="8366760" y="4809744"/>
            <a:ext cx="310896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D5F1BCBF-F4D2-B4ED-216E-E3991F46D6C9}"/>
              </a:ext>
            </a:extLst>
          </p:cNvPr>
          <p:cNvSpPr txBox="1"/>
          <p:nvPr/>
        </p:nvSpPr>
        <p:spPr>
          <a:xfrm>
            <a:off x="8796528" y="4800600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Fireye Ayır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1640C7E1-F3E2-B7E6-6203-FCEB59840F98}"/>
              </a:ext>
            </a:extLst>
          </p:cNvPr>
          <p:cNvSpPr txBox="1"/>
          <p:nvPr/>
        </p:nvSpPr>
        <p:spPr>
          <a:xfrm>
            <a:off x="8796528" y="5038344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Kontrol edilen kodları fire durumuna geçirin.</a:t>
            </a:r>
          </a:p>
        </p:txBody>
      </p:sp>
    </p:spTree>
    <p:extLst>
      <p:ext uri="{BB962C8B-B14F-4D97-AF65-F5344CB8AC3E}">
        <p14:creationId xmlns:p14="http://schemas.microsoft.com/office/powerpoint/2010/main" val="3217627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7314356B-6626-AFBF-C5E7-F89B2914F8D2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F9903707-08EE-DB43-1190-964CD90D0559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8. Kripto kodun geçmişini sorgulayın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439CF877-1239-993C-5D6C-1F927FFB417D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Bir kodun durumunu, siparişini ve üretim bilgilerini tek ekranda görüntüleyin.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9AED2652-1980-EC65-89DA-49D7E88863CC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0D9CE8CF-5CD1-C9D3-FBF4-43F685432C8A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458FC1D6-A9A1-1105-F5F1-C475845289EB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D1CAE5E1-1B24-923B-EA2E-7E36BED743B3}"/>
              </a:ext>
            </a:extLst>
          </p:cNvPr>
          <p:cNvSpPr/>
          <p:nvPr/>
        </p:nvSpPr>
        <p:spPr>
          <a:xfrm>
            <a:off x="420624" y="1341372"/>
            <a:ext cx="7708392" cy="4742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34B0C63-6125-959A-5A89-631FFB3CB19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7948"/>
            <a:ext cx="7635240" cy="466903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CEF8B1D-F1F0-24A7-9236-8D5BF2B5A51B}"/>
              </a:ext>
            </a:extLst>
          </p:cNvPr>
          <p:cNvSpPr/>
          <p:nvPr/>
        </p:nvSpPr>
        <p:spPr>
          <a:xfrm>
            <a:off x="4023360" y="1572768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46FFBC-CD4F-AB68-1504-CE8804387A0C}"/>
              </a:ext>
            </a:extLst>
          </p:cNvPr>
          <p:cNvSpPr/>
          <p:nvPr/>
        </p:nvSpPr>
        <p:spPr>
          <a:xfrm>
            <a:off x="4023360" y="2718447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136564-B261-3FB5-2976-D3A4F3E5B6F6}"/>
              </a:ext>
            </a:extLst>
          </p:cNvPr>
          <p:cNvSpPr/>
          <p:nvPr/>
        </p:nvSpPr>
        <p:spPr>
          <a:xfrm>
            <a:off x="4023360" y="3986667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EBC2EB0-2A98-8CD2-7C94-A45EF7B9E12B}"/>
              </a:ext>
            </a:extLst>
          </p:cNvPr>
          <p:cNvSpPr/>
          <p:nvPr/>
        </p:nvSpPr>
        <p:spPr>
          <a:xfrm>
            <a:off x="4023360" y="4852551"/>
            <a:ext cx="329184" cy="329184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CF75E8-D5C7-5F22-D7B7-3D412C36ACEC}"/>
              </a:ext>
            </a:extLst>
          </p:cNvPr>
          <p:cNvSpPr/>
          <p:nvPr/>
        </p:nvSpPr>
        <p:spPr>
          <a:xfrm>
            <a:off x="8366760" y="1280160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275E9542-9A76-B6FB-C505-BEBFFE8A3A9D}"/>
              </a:ext>
            </a:extLst>
          </p:cNvPr>
          <p:cNvSpPr txBox="1"/>
          <p:nvPr/>
        </p:nvSpPr>
        <p:spPr>
          <a:xfrm>
            <a:off x="8796528" y="1271016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Kod sorgulama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47BFB335-0CB3-D5DC-D1EB-6C033698CF30}"/>
              </a:ext>
            </a:extLst>
          </p:cNvPr>
          <p:cNvSpPr txBox="1"/>
          <p:nvPr/>
        </p:nvSpPr>
        <p:spPr>
          <a:xfrm>
            <a:off x="8796528" y="1508760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Kripto kodu okutun veya girin ve Sorgula düğmesini kullanın.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E7905BB-4FDA-ABE2-E410-D3366938EBF6}"/>
              </a:ext>
            </a:extLst>
          </p:cNvPr>
          <p:cNvSpPr/>
          <p:nvPr/>
        </p:nvSpPr>
        <p:spPr>
          <a:xfrm>
            <a:off x="8366760" y="2450592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2B5B41CB-61B0-3204-6022-BC0AD4B52CCE}"/>
              </a:ext>
            </a:extLst>
          </p:cNvPr>
          <p:cNvSpPr txBox="1"/>
          <p:nvPr/>
        </p:nvSpPr>
        <p:spPr>
          <a:xfrm>
            <a:off x="8796528" y="2441448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Durum ve paketleme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A2D8717F-B5B5-CEBD-52CF-715651BF5EA3}"/>
              </a:ext>
            </a:extLst>
          </p:cNvPr>
          <p:cNvSpPr txBox="1"/>
          <p:nvPr/>
        </p:nvSpPr>
        <p:spPr>
          <a:xfrm>
            <a:off x="8796528" y="2679192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Kodun mevcut durumunu ve paketleme bilgisini görüntüleyin.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522AF00-19A0-3C02-5B61-D2183D11D879}"/>
              </a:ext>
            </a:extLst>
          </p:cNvPr>
          <p:cNvSpPr/>
          <p:nvPr/>
        </p:nvSpPr>
        <p:spPr>
          <a:xfrm>
            <a:off x="8366760" y="3621024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ADE01F50-D95A-DEBB-E16F-2D9F764CBA1F}"/>
              </a:ext>
            </a:extLst>
          </p:cNvPr>
          <p:cNvSpPr txBox="1"/>
          <p:nvPr/>
        </p:nvSpPr>
        <p:spPr>
          <a:xfrm>
            <a:off x="8796528" y="3611880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Sipariş bilgileri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8C6CE434-E5EB-ECED-B627-B9AC5297F85C}"/>
              </a:ext>
            </a:extLst>
          </p:cNvPr>
          <p:cNvSpPr txBox="1"/>
          <p:nvPr/>
        </p:nvSpPr>
        <p:spPr>
          <a:xfrm>
            <a:off x="8796528" y="3849624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Satış siparişi, kalem, mamul ve GTIN bilgilerini doğrulayın.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5CDCD9-9841-14CC-6A0B-D211D314822B}"/>
              </a:ext>
            </a:extLst>
          </p:cNvPr>
          <p:cNvSpPr/>
          <p:nvPr/>
        </p:nvSpPr>
        <p:spPr>
          <a:xfrm>
            <a:off x="8366760" y="4791456"/>
            <a:ext cx="310896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80DF3289-77BA-7E41-F8DB-832EE054FA52}"/>
              </a:ext>
            </a:extLst>
          </p:cNvPr>
          <p:cNvSpPr txBox="1"/>
          <p:nvPr/>
        </p:nvSpPr>
        <p:spPr>
          <a:xfrm>
            <a:off x="8796528" y="4782312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Üretim bilgileri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C687C55F-E658-5B7E-0DA1-0DD655A554BF}"/>
              </a:ext>
            </a:extLst>
          </p:cNvPr>
          <p:cNvSpPr txBox="1"/>
          <p:nvPr/>
        </p:nvSpPr>
        <p:spPr>
          <a:xfrm>
            <a:off x="8796528" y="5020056"/>
            <a:ext cx="2907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Planlı sipariş, hat, tasnif ve üretim tarihlerini inceleyin.</a:t>
            </a:r>
          </a:p>
        </p:txBody>
      </p:sp>
    </p:spTree>
    <p:extLst>
      <p:ext uri="{BB962C8B-B14F-4D97-AF65-F5344CB8AC3E}">
        <p14:creationId xmlns:p14="http://schemas.microsoft.com/office/powerpoint/2010/main" val="4094847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8E22008B-C02C-848A-5EBE-43D409A8C0C5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99B86423-89C3-AD03-5E3A-4D3856B9D262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9. Kodlardan DataMatrix PDF oluşturun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983F8374-A041-F876-F2E5-E36F5C8239C0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CSV dosyasındaki kripto kodları yazdırılabilir DataMatrix görsellerine dönüştürün.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BFE9AC93-CC7B-E422-2628-E79AD5EBBEF9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B7C794A2-F70F-887D-3190-0361C3685454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5FBCA7EA-C6B4-AA0E-2110-341B2D302CE3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F952628B-4244-662F-76F6-F1C79A82F7F9}"/>
              </a:ext>
            </a:extLst>
          </p:cNvPr>
          <p:cNvSpPr/>
          <p:nvPr/>
        </p:nvSpPr>
        <p:spPr>
          <a:xfrm>
            <a:off x="592074" y="1097280"/>
            <a:ext cx="10986516" cy="4325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A62D4A9-5C82-CFB3-6B75-65CA3235856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33856"/>
            <a:ext cx="10913364" cy="425196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34F5209D-12D0-4813-2C7C-7A7D7E9D8EC1}"/>
              </a:ext>
            </a:extLst>
          </p:cNvPr>
          <p:cNvSpPr/>
          <p:nvPr/>
        </p:nvSpPr>
        <p:spPr>
          <a:xfrm>
            <a:off x="5833872" y="1463041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B4A905-461C-6263-62C3-5263F922BE78}"/>
              </a:ext>
            </a:extLst>
          </p:cNvPr>
          <p:cNvSpPr/>
          <p:nvPr/>
        </p:nvSpPr>
        <p:spPr>
          <a:xfrm>
            <a:off x="10917936" y="4553712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3DAD635-91D4-8728-21CB-6FBE7ECB5A7C}"/>
              </a:ext>
            </a:extLst>
          </p:cNvPr>
          <p:cNvSpPr/>
          <p:nvPr/>
        </p:nvSpPr>
        <p:spPr>
          <a:xfrm>
            <a:off x="1051560" y="5532120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75A841A4-2E23-CDD3-CA7D-A95D061044E4}"/>
              </a:ext>
            </a:extLst>
          </p:cNvPr>
          <p:cNvSpPr txBox="1"/>
          <p:nvPr/>
        </p:nvSpPr>
        <p:spPr>
          <a:xfrm>
            <a:off x="1463040" y="5513832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CSV dosyasını yükleyin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1691775B-41CE-2050-4704-4C6285155F94}"/>
              </a:ext>
            </a:extLst>
          </p:cNvPr>
          <p:cNvSpPr txBox="1"/>
          <p:nvPr/>
        </p:nvSpPr>
        <p:spPr>
          <a:xfrm>
            <a:off x="1463040" y="5751576"/>
            <a:ext cx="45537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Her satırda tek bir kripto kod bulunacak şekilde hazırlanan CSV dosyasını seçin.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549F63-D073-6A21-E0AB-1B017A828D30}"/>
              </a:ext>
            </a:extLst>
          </p:cNvPr>
          <p:cNvSpPr/>
          <p:nvPr/>
        </p:nvSpPr>
        <p:spPr>
          <a:xfrm>
            <a:off x="6080760" y="5532120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51D712D8-5D47-43B5-1A6E-09E7C5EBD292}"/>
              </a:ext>
            </a:extLst>
          </p:cNvPr>
          <p:cNvSpPr txBox="1"/>
          <p:nvPr/>
        </p:nvSpPr>
        <p:spPr>
          <a:xfrm>
            <a:off x="6492240" y="5513832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PDF Oluştur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59A9F188-99A2-C07C-01F1-BB182E4289F7}"/>
              </a:ext>
            </a:extLst>
          </p:cNvPr>
          <p:cNvSpPr txBox="1"/>
          <p:nvPr/>
        </p:nvSpPr>
        <p:spPr>
          <a:xfrm>
            <a:off x="6492240" y="5751576"/>
            <a:ext cx="45537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Geçerli kodlardan DataMatrix PDF oluşturulur; hatalı satırlar kullanıcıya bildirilir.</a:t>
            </a:r>
          </a:p>
        </p:txBody>
      </p:sp>
    </p:spTree>
    <p:extLst>
      <p:ext uri="{BB962C8B-B14F-4D97-AF65-F5344CB8AC3E}">
        <p14:creationId xmlns:p14="http://schemas.microsoft.com/office/powerpoint/2010/main" val="3504858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7D209A60-158C-6A0A-D248-33268C6DA3CB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A2B3C453-66C5-C018-DA5B-74B8539E49D2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10. Kripto kod havuzunu raporlayın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7DEC4BD-D754-1089-38C7-39249B91D4BB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Kodları sipariş, durum ve üretim tarihi ölçütleriyle filtreleyip dışa aktarın.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7C63DFD9-44DE-EA86-00A2-AB02814255A0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8AEED6A4-0247-DA28-C799-E130BEA9D8E2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75CEAD9E-D491-2202-D67F-5E2BE402A53B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D5980B4D-4563-2F74-EA40-C7ACF59D175A}"/>
              </a:ext>
            </a:extLst>
          </p:cNvPr>
          <p:cNvSpPr/>
          <p:nvPr/>
        </p:nvSpPr>
        <p:spPr>
          <a:xfrm>
            <a:off x="420624" y="1458527"/>
            <a:ext cx="7708392" cy="453530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10EE4BCA-AA88-3F89-E48C-94125133605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95103"/>
            <a:ext cx="7635240" cy="44621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9DBC973-EF56-195D-492E-09BCC9318C76}"/>
              </a:ext>
            </a:extLst>
          </p:cNvPr>
          <p:cNvSpPr/>
          <p:nvPr/>
        </p:nvSpPr>
        <p:spPr>
          <a:xfrm>
            <a:off x="2029968" y="2233815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A07628A-8D22-8408-5A94-987B74E61DD1}"/>
              </a:ext>
            </a:extLst>
          </p:cNvPr>
          <p:cNvSpPr/>
          <p:nvPr/>
        </p:nvSpPr>
        <p:spPr>
          <a:xfrm>
            <a:off x="3456432" y="2514600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CB6DF6B-644B-856F-DB1D-F07F0F95CAEF}"/>
              </a:ext>
            </a:extLst>
          </p:cNvPr>
          <p:cNvSpPr/>
          <p:nvPr/>
        </p:nvSpPr>
        <p:spPr>
          <a:xfrm>
            <a:off x="5856732" y="2514600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E4065F-5909-8811-D474-478B75B71174}"/>
              </a:ext>
            </a:extLst>
          </p:cNvPr>
          <p:cNvSpPr/>
          <p:nvPr/>
        </p:nvSpPr>
        <p:spPr>
          <a:xfrm>
            <a:off x="6809994" y="2909131"/>
            <a:ext cx="329184" cy="329184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15DE8F4-A9BF-DDBC-BE09-6DECB1561141}"/>
              </a:ext>
            </a:extLst>
          </p:cNvPr>
          <p:cNvSpPr/>
          <p:nvPr/>
        </p:nvSpPr>
        <p:spPr>
          <a:xfrm>
            <a:off x="649224" y="2909131"/>
            <a:ext cx="329184" cy="329184"/>
          </a:xfrm>
          <a:prstGeom prst="ellipse">
            <a:avLst/>
          </a:prstGeom>
          <a:solidFill>
            <a:srgbClr val="18BCD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760289-C7B8-865E-6D59-D149338AB946}"/>
              </a:ext>
            </a:extLst>
          </p:cNvPr>
          <p:cNvSpPr/>
          <p:nvPr/>
        </p:nvSpPr>
        <p:spPr>
          <a:xfrm>
            <a:off x="8275320" y="1143000"/>
            <a:ext cx="310895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3F345783-3738-EF65-5873-A673B272FB18}"/>
              </a:ext>
            </a:extLst>
          </p:cNvPr>
          <p:cNvSpPr txBox="1"/>
          <p:nvPr/>
        </p:nvSpPr>
        <p:spPr>
          <a:xfrm>
            <a:off x="8705088" y="1133856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Kod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16F229CA-A012-77C1-7051-36A4C8DC7396}"/>
              </a:ext>
            </a:extLst>
          </p:cNvPr>
          <p:cNvSpPr txBox="1"/>
          <p:nvPr/>
        </p:nvSpPr>
        <p:spPr>
          <a:xfrm>
            <a:off x="8705088" y="1371600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Tam kripto kod değerini girerek tekil kayıt arayın.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CC3E39C-69B6-A343-BA6D-07345860B251}"/>
              </a:ext>
            </a:extLst>
          </p:cNvPr>
          <p:cNvSpPr/>
          <p:nvPr/>
        </p:nvSpPr>
        <p:spPr>
          <a:xfrm>
            <a:off x="8275320" y="2130552"/>
            <a:ext cx="310895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1BD09E08-4122-767C-EB08-A000983DFECD}"/>
              </a:ext>
            </a:extLst>
          </p:cNvPr>
          <p:cNvSpPr txBox="1"/>
          <p:nvPr/>
        </p:nvSpPr>
        <p:spPr>
          <a:xfrm>
            <a:off x="8705088" y="2121408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Sipariş filtreleri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40B114BC-79AA-287C-69AE-2A95AC91BEE6}"/>
              </a:ext>
            </a:extLst>
          </p:cNvPr>
          <p:cNvSpPr txBox="1"/>
          <p:nvPr/>
        </p:nvSpPr>
        <p:spPr>
          <a:xfrm>
            <a:off x="8705088" y="2359152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Satış siparişi veya buna bağlı planlı sipariş üzerinden kapsamı daraltın.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71D623C-4CE6-F762-E863-68E1C7697388}"/>
              </a:ext>
            </a:extLst>
          </p:cNvPr>
          <p:cNvSpPr/>
          <p:nvPr/>
        </p:nvSpPr>
        <p:spPr>
          <a:xfrm>
            <a:off x="8275320" y="3118104"/>
            <a:ext cx="310895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590C83E0-658D-9693-E5A6-1B2F6FE0F641}"/>
              </a:ext>
            </a:extLst>
          </p:cNvPr>
          <p:cNvSpPr txBox="1"/>
          <p:nvPr/>
        </p:nvSpPr>
        <p:spPr>
          <a:xfrm>
            <a:off x="8705088" y="3108960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Durum ve tarih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6BCC758F-627F-7B9D-841B-F0160B7F9011}"/>
              </a:ext>
            </a:extLst>
          </p:cNvPr>
          <p:cNvSpPr txBox="1"/>
          <p:nvPr/>
        </p:nvSpPr>
        <p:spPr>
          <a:xfrm>
            <a:off x="8705088" y="3346704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Kod durumunu ve üretim tarihi aralığını birlikte kullanabilirsiniz.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55E323C-7310-E194-6509-551FBDF254B5}"/>
              </a:ext>
            </a:extLst>
          </p:cNvPr>
          <p:cNvSpPr/>
          <p:nvPr/>
        </p:nvSpPr>
        <p:spPr>
          <a:xfrm>
            <a:off x="8275320" y="4105656"/>
            <a:ext cx="310895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18124C30-5C93-DF68-CA05-358836E95531}"/>
              </a:ext>
            </a:extLst>
          </p:cNvPr>
          <p:cNvSpPr txBox="1"/>
          <p:nvPr/>
        </p:nvSpPr>
        <p:spPr>
          <a:xfrm>
            <a:off x="8705088" y="4096512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Filtrele / Dışa Aktar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94F2AFF0-D46C-9881-1A27-B36C7D97CA89}"/>
              </a:ext>
            </a:extLst>
          </p:cNvPr>
          <p:cNvSpPr txBox="1"/>
          <p:nvPr/>
        </p:nvSpPr>
        <p:spPr>
          <a:xfrm>
            <a:off x="8705088" y="4334256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Sonuçları yenileyin veya en az bir filtre kullanarak CSV indirin.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57A2B6D-4E21-F721-6B96-D6E131E690AE}"/>
              </a:ext>
            </a:extLst>
          </p:cNvPr>
          <p:cNvSpPr/>
          <p:nvPr/>
        </p:nvSpPr>
        <p:spPr>
          <a:xfrm>
            <a:off x="8275320" y="5093208"/>
            <a:ext cx="310895" cy="310896"/>
          </a:xfrm>
          <a:prstGeom prst="ellipse">
            <a:avLst/>
          </a:prstGeom>
          <a:solidFill>
            <a:srgbClr val="18BCD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498519FE-44EE-2337-3155-7ADED8C88253}"/>
              </a:ext>
            </a:extLst>
          </p:cNvPr>
          <p:cNvSpPr txBox="1"/>
          <p:nvPr/>
        </p:nvSpPr>
        <p:spPr>
          <a:xfrm>
            <a:off x="8705088" y="5084064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Sadece kodları indir</a:t>
            </a:r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57FF6711-4EB5-920B-1D9A-3189E228459A}"/>
              </a:ext>
            </a:extLst>
          </p:cNvPr>
          <p:cNvSpPr txBox="1"/>
          <p:nvPr/>
        </p:nvSpPr>
        <p:spPr>
          <a:xfrm>
            <a:off x="8705088" y="5321808"/>
            <a:ext cx="29992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Dışa aktarımda diğer sütunlar yerine yalnızca kod değerlerini alın.</a:t>
            </a:r>
          </a:p>
        </p:txBody>
      </p:sp>
    </p:spTree>
    <p:extLst>
      <p:ext uri="{BB962C8B-B14F-4D97-AF65-F5344CB8AC3E}">
        <p14:creationId xmlns:p14="http://schemas.microsoft.com/office/powerpoint/2010/main" val="1146030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E7DF86FA-9EC9-361A-0B4A-F10722B1FE0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7EC15EA-5C89-4D47-3919-3DF61097DDAD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11. Üretim kayıtlarını kontrollü düzeltin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F433E020-9A80-3BAA-1205-B0618BCB84FE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Bu ekran canlı üretim verilerini etkiler; yalnızca yetkili kullanıcılar ve zorunlu açıklamayla işlem yapmalıdır.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32F5BB4A-FD98-354E-24B0-388E6DE3A464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196CCD4B-E180-10A0-C4AF-EDDDD6CD44EA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0731F98-2C42-7420-1DE3-16522E0F6E17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71030CA4-B137-4C8B-B686-26BC5D3986E3}"/>
              </a:ext>
            </a:extLst>
          </p:cNvPr>
          <p:cNvSpPr/>
          <p:nvPr/>
        </p:nvSpPr>
        <p:spPr>
          <a:xfrm>
            <a:off x="374904" y="1230511"/>
            <a:ext cx="7434072" cy="501877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2C1DBAB5-D72F-4344-1269-EF4D5CEA8B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1267087"/>
            <a:ext cx="7360920" cy="494561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87E75D9-1570-3E14-9BD8-BDAAB75DECD9}"/>
              </a:ext>
            </a:extLst>
          </p:cNvPr>
          <p:cNvSpPr/>
          <p:nvPr/>
        </p:nvSpPr>
        <p:spPr>
          <a:xfrm>
            <a:off x="3767328" y="1760864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153DF86-B355-8C59-BA22-116C22C7C08C}"/>
              </a:ext>
            </a:extLst>
          </p:cNvPr>
          <p:cNvSpPr/>
          <p:nvPr/>
        </p:nvSpPr>
        <p:spPr>
          <a:xfrm>
            <a:off x="3767328" y="2617863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D7F1040-F643-2CF3-65B6-C898481C04B8}"/>
              </a:ext>
            </a:extLst>
          </p:cNvPr>
          <p:cNvSpPr/>
          <p:nvPr/>
        </p:nvSpPr>
        <p:spPr>
          <a:xfrm>
            <a:off x="3762756" y="3393693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EEC457-7A9B-5DCE-63BF-4CEBEEFCAC6F}"/>
              </a:ext>
            </a:extLst>
          </p:cNvPr>
          <p:cNvSpPr/>
          <p:nvPr/>
        </p:nvSpPr>
        <p:spPr>
          <a:xfrm>
            <a:off x="1856232" y="4262443"/>
            <a:ext cx="329184" cy="329184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031BED-480D-8468-09DC-A8F25D4D2511}"/>
              </a:ext>
            </a:extLst>
          </p:cNvPr>
          <p:cNvSpPr/>
          <p:nvPr/>
        </p:nvSpPr>
        <p:spPr>
          <a:xfrm>
            <a:off x="5669280" y="4262443"/>
            <a:ext cx="329184" cy="329184"/>
          </a:xfrm>
          <a:prstGeom prst="ellipse">
            <a:avLst/>
          </a:prstGeom>
          <a:solidFill>
            <a:srgbClr val="18BCD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8D9A85-4F46-F166-4B4E-C7BF9E7AB417}"/>
              </a:ext>
            </a:extLst>
          </p:cNvPr>
          <p:cNvSpPr/>
          <p:nvPr/>
        </p:nvSpPr>
        <p:spPr>
          <a:xfrm>
            <a:off x="8046720" y="1115568"/>
            <a:ext cx="310895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FE8ED983-7AA5-D1C5-D1A2-19D6845A7400}"/>
              </a:ext>
            </a:extLst>
          </p:cNvPr>
          <p:cNvSpPr txBox="1"/>
          <p:nvPr/>
        </p:nvSpPr>
        <p:spPr>
          <a:xfrm>
            <a:off x="8476488" y="1106424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Sipariş ve özet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BAC5013B-0D79-2296-BD90-CF8EDD5E5796}"/>
              </a:ext>
            </a:extLst>
          </p:cNvPr>
          <p:cNvSpPr txBox="1"/>
          <p:nvPr/>
        </p:nvSpPr>
        <p:spPr>
          <a:xfrm>
            <a:off x="8476488" y="1344168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Satış ve planlı siparişi seçerek güncel üretim özetini getirin.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6197D1-5874-9B67-9AE6-06C071765E09}"/>
              </a:ext>
            </a:extLst>
          </p:cNvPr>
          <p:cNvSpPr/>
          <p:nvPr/>
        </p:nvSpPr>
        <p:spPr>
          <a:xfrm>
            <a:off x="8046720" y="2121408"/>
            <a:ext cx="310895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03B68504-AA6A-0F17-DD42-E883FD579608}"/>
              </a:ext>
            </a:extLst>
          </p:cNvPr>
          <p:cNvSpPr txBox="1"/>
          <p:nvPr/>
        </p:nvSpPr>
        <p:spPr>
          <a:xfrm>
            <a:off x="8476488" y="2112264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Kod durumları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E0D37491-1EEA-FC20-192E-CA6B977CC885}"/>
              </a:ext>
            </a:extLst>
          </p:cNvPr>
          <p:cNvSpPr txBox="1"/>
          <p:nvPr/>
        </p:nvSpPr>
        <p:spPr>
          <a:xfrm>
            <a:off x="8476488" y="2350008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Available, Allocated, ProducedOk, Reject, Scrap ve Void adetlerini kontrol edin.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EC935FA-B8AE-DD5D-3B1E-205677F2CA29}"/>
              </a:ext>
            </a:extLst>
          </p:cNvPr>
          <p:cNvSpPr/>
          <p:nvPr/>
        </p:nvSpPr>
        <p:spPr>
          <a:xfrm>
            <a:off x="8046720" y="3127248"/>
            <a:ext cx="310895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317122F7-1325-2819-A6F9-FC8795CABD35}"/>
              </a:ext>
            </a:extLst>
          </p:cNvPr>
          <p:cNvSpPr txBox="1"/>
          <p:nvPr/>
        </p:nvSpPr>
        <p:spPr>
          <a:xfrm>
            <a:off x="8476488" y="3118104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Günlük üretim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0119A6BD-9CAD-4180-2305-A2A3511D089B}"/>
              </a:ext>
            </a:extLst>
          </p:cNvPr>
          <p:cNvSpPr txBox="1"/>
          <p:nvPr/>
        </p:nvSpPr>
        <p:spPr>
          <a:xfrm>
            <a:off x="8476488" y="3355848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Üretilen kod adetlerini gün bazında inceleyin; satır seçimi tarih alanlarını doldurur.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9B0550-535C-D8C6-A7CE-7C4CE77AD3B1}"/>
              </a:ext>
            </a:extLst>
          </p:cNvPr>
          <p:cNvSpPr/>
          <p:nvPr/>
        </p:nvSpPr>
        <p:spPr>
          <a:xfrm>
            <a:off x="8046720" y="4133088"/>
            <a:ext cx="310895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54E1449D-1AC2-CD8C-A69B-1F795349BA6B}"/>
              </a:ext>
            </a:extLst>
          </p:cNvPr>
          <p:cNvSpPr txBox="1"/>
          <p:nvPr/>
        </p:nvSpPr>
        <p:spPr>
          <a:xfrm>
            <a:off x="8476488" y="4123944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Üretim Adedi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55775C0E-67F6-A2CE-852F-CA859DED0CD6}"/>
              </a:ext>
            </a:extLst>
          </p:cNvPr>
          <p:cNvSpPr txBox="1"/>
          <p:nvPr/>
        </p:nvSpPr>
        <p:spPr>
          <a:xfrm>
            <a:off x="8476488" y="4361688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Allocated ve ProducedOk durumları arasında belirli adet için kontrollü düzeltme yapın.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925D185-0C61-6DC2-10A9-FAE90CB8A96A}"/>
              </a:ext>
            </a:extLst>
          </p:cNvPr>
          <p:cNvSpPr/>
          <p:nvPr/>
        </p:nvSpPr>
        <p:spPr>
          <a:xfrm>
            <a:off x="8046720" y="5138928"/>
            <a:ext cx="310895" cy="310896"/>
          </a:xfrm>
          <a:prstGeom prst="ellipse">
            <a:avLst/>
          </a:prstGeom>
          <a:solidFill>
            <a:srgbClr val="18BCD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3F6AF7CB-E012-5FBC-DC89-B69CE719E65A}"/>
              </a:ext>
            </a:extLst>
          </p:cNvPr>
          <p:cNvSpPr txBox="1"/>
          <p:nvPr/>
        </p:nvSpPr>
        <p:spPr>
          <a:xfrm>
            <a:off x="8476488" y="5129784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Üretim Tarihi</a:t>
            </a:r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579C0DAD-1749-4921-8B91-E7055A1DF371}"/>
              </a:ext>
            </a:extLst>
          </p:cNvPr>
          <p:cNvSpPr txBox="1"/>
          <p:nvPr/>
        </p:nvSpPr>
        <p:spPr>
          <a:xfrm>
            <a:off x="8476488" y="5367528"/>
            <a:ext cx="322783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Belirli adette üretilmiş kodu mevcut tarihten yeni üretim tarihine taşıyın.</a:t>
            </a:r>
          </a:p>
        </p:txBody>
      </p:sp>
    </p:spTree>
    <p:extLst>
      <p:ext uri="{BB962C8B-B14F-4D97-AF65-F5344CB8AC3E}">
        <p14:creationId xmlns:p14="http://schemas.microsoft.com/office/powerpoint/2010/main" val="590389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66BAAE54-F553-FBD1-A346-39FA85C31AFF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EB459DF-193C-F6A6-FC4D-4FBEF64178A8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12. Müdahale geçmişini doğrulayın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CFE06167-FF26-FDE6-6EF0-C03562A790CD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Her müdahalenin kim tarafından, ne zaman, hangi kapsamda ve kaç kod için uygulandığını inceleyin.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DB1EADEC-AEBB-BEE6-4F1F-49BDAD780420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36C78EF3-FD0E-97F6-6429-810E51CD032B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8D87F048-06B0-7E2F-E7E8-6D413B6E62BE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20380580-1E87-634C-1D1E-7083D16C2E66}"/>
              </a:ext>
            </a:extLst>
          </p:cNvPr>
          <p:cNvSpPr/>
          <p:nvPr/>
        </p:nvSpPr>
        <p:spPr>
          <a:xfrm>
            <a:off x="493776" y="1086622"/>
            <a:ext cx="11183112" cy="43189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7FBBB034-B42E-FEEF-08E2-C00B231F3AE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123198"/>
            <a:ext cx="11109960" cy="424584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C4C79759-360B-5DE8-85E2-C13FE7701D4A}"/>
              </a:ext>
            </a:extLst>
          </p:cNvPr>
          <p:cNvSpPr/>
          <p:nvPr/>
        </p:nvSpPr>
        <p:spPr>
          <a:xfrm>
            <a:off x="11064240" y="1874520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373014-5DCE-C112-6380-B49706021992}"/>
              </a:ext>
            </a:extLst>
          </p:cNvPr>
          <p:cNvSpPr/>
          <p:nvPr/>
        </p:nvSpPr>
        <p:spPr>
          <a:xfrm>
            <a:off x="2505456" y="2532888"/>
            <a:ext cx="329184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C3C3E52-F8D4-BC2B-3AA1-7C317DEEF8F1}"/>
              </a:ext>
            </a:extLst>
          </p:cNvPr>
          <p:cNvSpPr/>
          <p:nvPr/>
        </p:nvSpPr>
        <p:spPr>
          <a:xfrm>
            <a:off x="4575049" y="2532888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8EFE9-8EB1-0962-E50C-5B631B804EAF}"/>
              </a:ext>
            </a:extLst>
          </p:cNvPr>
          <p:cNvSpPr/>
          <p:nvPr/>
        </p:nvSpPr>
        <p:spPr>
          <a:xfrm>
            <a:off x="8668512" y="2532888"/>
            <a:ext cx="329184" cy="329184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B1E8B4-3EBC-89F3-7EA0-18D2F2B46AC5}"/>
              </a:ext>
            </a:extLst>
          </p:cNvPr>
          <p:cNvSpPr/>
          <p:nvPr/>
        </p:nvSpPr>
        <p:spPr>
          <a:xfrm>
            <a:off x="10287000" y="2532888"/>
            <a:ext cx="329184" cy="329184"/>
          </a:xfrm>
          <a:prstGeom prst="ellipse">
            <a:avLst/>
          </a:prstGeom>
          <a:solidFill>
            <a:srgbClr val="18BCD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B828FBF-4B11-3054-F507-5D9D8B57A771}"/>
              </a:ext>
            </a:extLst>
          </p:cNvPr>
          <p:cNvSpPr/>
          <p:nvPr/>
        </p:nvSpPr>
        <p:spPr>
          <a:xfrm>
            <a:off x="502920" y="5504688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B347AC4E-B58E-3E73-CD1A-BA6151F6BAED}"/>
              </a:ext>
            </a:extLst>
          </p:cNvPr>
          <p:cNvSpPr txBox="1"/>
          <p:nvPr/>
        </p:nvSpPr>
        <p:spPr>
          <a:xfrm>
            <a:off x="914400" y="5486400"/>
            <a:ext cx="178308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Ara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B8966857-C7A9-F012-C8CB-855DE9E4C8C7}"/>
              </a:ext>
            </a:extLst>
          </p:cNvPr>
          <p:cNvSpPr txBox="1"/>
          <p:nvPr/>
        </p:nvSpPr>
        <p:spPr>
          <a:xfrm>
            <a:off x="914400" y="5724144"/>
            <a:ext cx="1764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Sipariş, kullanıcı, işlem tipi veya açıklama ile kayıt bulun.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741CB51-4539-F634-F2B9-EA138AA79CE2}"/>
              </a:ext>
            </a:extLst>
          </p:cNvPr>
          <p:cNvSpPr/>
          <p:nvPr/>
        </p:nvSpPr>
        <p:spPr>
          <a:xfrm>
            <a:off x="2743200" y="5504688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0AAF5378-BBD4-77ED-F1B2-485023D0EEB0}"/>
              </a:ext>
            </a:extLst>
          </p:cNvPr>
          <p:cNvSpPr txBox="1"/>
          <p:nvPr/>
        </p:nvSpPr>
        <p:spPr>
          <a:xfrm>
            <a:off x="3154680" y="5486400"/>
            <a:ext cx="178308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Tarih ve kullanıcı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2B29D918-8AEF-17DF-D69F-A3181A37C7FF}"/>
              </a:ext>
            </a:extLst>
          </p:cNvPr>
          <p:cNvSpPr txBox="1"/>
          <p:nvPr/>
        </p:nvSpPr>
        <p:spPr>
          <a:xfrm>
            <a:off x="3154680" y="5724144"/>
            <a:ext cx="1764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Müdahalenin ne zaman ve kim tarafından yapıldığını görün.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7E391A5-0FC4-09DE-F8BB-0735817ED889}"/>
              </a:ext>
            </a:extLst>
          </p:cNvPr>
          <p:cNvSpPr/>
          <p:nvPr/>
        </p:nvSpPr>
        <p:spPr>
          <a:xfrm>
            <a:off x="4983480" y="5504688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124F9286-509C-A896-2E67-70BCEFD7037B}"/>
              </a:ext>
            </a:extLst>
          </p:cNvPr>
          <p:cNvSpPr txBox="1"/>
          <p:nvPr/>
        </p:nvSpPr>
        <p:spPr>
          <a:xfrm>
            <a:off x="5394960" y="5486400"/>
            <a:ext cx="178308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İşlem tipi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E5158058-1F20-9B23-C351-DDC59CE95F35}"/>
              </a:ext>
            </a:extLst>
          </p:cNvPr>
          <p:cNvSpPr txBox="1"/>
          <p:nvPr/>
        </p:nvSpPr>
        <p:spPr>
          <a:xfrm>
            <a:off x="5394960" y="5724144"/>
            <a:ext cx="1764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Kayda alınan müdahalenin türünü inceleyin.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EB4BBA8-48D6-DC67-30C0-4ABC3CB394E5}"/>
              </a:ext>
            </a:extLst>
          </p:cNvPr>
          <p:cNvSpPr/>
          <p:nvPr/>
        </p:nvSpPr>
        <p:spPr>
          <a:xfrm>
            <a:off x="7223760" y="5504688"/>
            <a:ext cx="310896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F863B4DB-3C6E-7570-1375-8E9EAB9F1000}"/>
              </a:ext>
            </a:extLst>
          </p:cNvPr>
          <p:cNvSpPr txBox="1"/>
          <p:nvPr/>
        </p:nvSpPr>
        <p:spPr>
          <a:xfrm>
            <a:off x="7635240" y="5486400"/>
            <a:ext cx="178308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Değişim bilgisi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ACEDCDA6-10F5-1B07-90A1-049C9245F144}"/>
              </a:ext>
            </a:extLst>
          </p:cNvPr>
          <p:cNvSpPr txBox="1"/>
          <p:nvPr/>
        </p:nvSpPr>
        <p:spPr>
          <a:xfrm>
            <a:off x="7635240" y="5724144"/>
            <a:ext cx="1764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Eski-yeni kod durumunu veya üretim tarihini karşılaştırın.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8047135-F98B-2CC2-14C5-AE6E3856147C}"/>
              </a:ext>
            </a:extLst>
          </p:cNvPr>
          <p:cNvSpPr/>
          <p:nvPr/>
        </p:nvSpPr>
        <p:spPr>
          <a:xfrm>
            <a:off x="9464040" y="5504688"/>
            <a:ext cx="310896" cy="310896"/>
          </a:xfrm>
          <a:prstGeom prst="ellipse">
            <a:avLst/>
          </a:prstGeom>
          <a:solidFill>
            <a:srgbClr val="18BCD4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9" name="Metin kutusu 28">
            <a:extLst>
              <a:ext uri="{FF2B5EF4-FFF2-40B4-BE49-F238E27FC236}">
                <a16:creationId xmlns:a16="http://schemas.microsoft.com/office/drawing/2014/main" id="{F26724C2-BCA8-FB31-86A3-3C2F3EF8E434}"/>
              </a:ext>
            </a:extLst>
          </p:cNvPr>
          <p:cNvSpPr txBox="1"/>
          <p:nvPr/>
        </p:nvSpPr>
        <p:spPr>
          <a:xfrm>
            <a:off x="9875520" y="5486400"/>
            <a:ext cx="178308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Adet ve açıklama</a:t>
            </a:r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6BD3E27D-AC18-19DB-6306-8FC554EA727A}"/>
              </a:ext>
            </a:extLst>
          </p:cNvPr>
          <p:cNvSpPr txBox="1"/>
          <p:nvPr/>
        </p:nvSpPr>
        <p:spPr>
          <a:xfrm>
            <a:off x="9875520" y="5724144"/>
            <a:ext cx="176479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Etkilenen kod sayısını ve işlem gerekçesini doğrulayın.</a:t>
            </a:r>
          </a:p>
        </p:txBody>
      </p:sp>
    </p:spTree>
    <p:extLst>
      <p:ext uri="{BB962C8B-B14F-4D97-AF65-F5344CB8AC3E}">
        <p14:creationId xmlns:p14="http://schemas.microsoft.com/office/powerpoint/2010/main" val="1386960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673B7701-0924-2837-C474-65661749151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25A7C91-5065-F401-8D10-58B4F1731480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13. Kullanıcıları ve yetkileri yönetin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EE377442-F885-76EF-54B6-C06E3E860982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Kullanıcı hesaplarını, rollerini ve erişim durumlarını tek listeden yönetin.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114DCA49-3511-15AF-B475-0F3A34520D87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2025791D-1EFD-EE44-0BD5-255E396FCEAB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6BED965-FDFF-2F5C-A7B5-14447EB43818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10187273-DD08-FE3A-0557-7E3B98463DC5}"/>
              </a:ext>
            </a:extLst>
          </p:cNvPr>
          <p:cNvSpPr/>
          <p:nvPr/>
        </p:nvSpPr>
        <p:spPr>
          <a:xfrm>
            <a:off x="493776" y="1162336"/>
            <a:ext cx="11183112" cy="3116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D4A3E477-B406-EF74-8FF0-2CE6943A1D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" y="1198912"/>
            <a:ext cx="11109960" cy="304285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6C85C02-ABA7-2BBE-E7EB-BAA4DF219D8A}"/>
              </a:ext>
            </a:extLst>
          </p:cNvPr>
          <p:cNvSpPr/>
          <p:nvPr/>
        </p:nvSpPr>
        <p:spPr>
          <a:xfrm>
            <a:off x="5669280" y="1359777"/>
            <a:ext cx="329184" cy="329184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04A098-24A7-D236-B88B-3649EC83756C}"/>
              </a:ext>
            </a:extLst>
          </p:cNvPr>
          <p:cNvSpPr/>
          <p:nvPr/>
        </p:nvSpPr>
        <p:spPr>
          <a:xfrm>
            <a:off x="11064240" y="1807834"/>
            <a:ext cx="329183" cy="329184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2A58FB-8328-AA80-FD8C-21DE0934E2D2}"/>
              </a:ext>
            </a:extLst>
          </p:cNvPr>
          <p:cNvSpPr/>
          <p:nvPr/>
        </p:nvSpPr>
        <p:spPr>
          <a:xfrm>
            <a:off x="11064240" y="2555747"/>
            <a:ext cx="329184" cy="329184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056DBF-35C7-1F2B-2E43-1E480FA01A83}"/>
              </a:ext>
            </a:extLst>
          </p:cNvPr>
          <p:cNvSpPr/>
          <p:nvPr/>
        </p:nvSpPr>
        <p:spPr>
          <a:xfrm>
            <a:off x="6007608" y="2555747"/>
            <a:ext cx="329184" cy="329184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2B785EC-07A4-47E2-A316-F4A6A79707C7}"/>
              </a:ext>
            </a:extLst>
          </p:cNvPr>
          <p:cNvSpPr/>
          <p:nvPr/>
        </p:nvSpPr>
        <p:spPr>
          <a:xfrm>
            <a:off x="548640" y="4617720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8EE62F97-5B05-10AC-DC07-A6DD4FE93070}"/>
              </a:ext>
            </a:extLst>
          </p:cNvPr>
          <p:cNvSpPr txBox="1"/>
          <p:nvPr/>
        </p:nvSpPr>
        <p:spPr>
          <a:xfrm>
            <a:off x="960120" y="4599432"/>
            <a:ext cx="23088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Kullanıcı listesi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476055A8-5FC1-14D6-799C-4F218AFB9A11}"/>
              </a:ext>
            </a:extLst>
          </p:cNvPr>
          <p:cNvSpPr txBox="1"/>
          <p:nvPr/>
        </p:nvSpPr>
        <p:spPr>
          <a:xfrm>
            <a:off x="960120" y="4837176"/>
            <a:ext cx="22905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Kullanıcı adı, tam ad, rol ve hesap durumunu görüntüleyin.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85B5B65-D9F2-C85E-6709-DE01301D22A0}"/>
              </a:ext>
            </a:extLst>
          </p:cNvPr>
          <p:cNvSpPr/>
          <p:nvPr/>
        </p:nvSpPr>
        <p:spPr>
          <a:xfrm>
            <a:off x="3314700" y="4617720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0FC41120-0D0D-3E30-A51B-08CB4842DAE8}"/>
              </a:ext>
            </a:extLst>
          </p:cNvPr>
          <p:cNvSpPr txBox="1"/>
          <p:nvPr/>
        </p:nvSpPr>
        <p:spPr>
          <a:xfrm>
            <a:off x="3726180" y="4599432"/>
            <a:ext cx="23088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Kullanıcı Ekle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37F8F1C6-02D5-091D-DA6A-E67ABCA7D480}"/>
              </a:ext>
            </a:extLst>
          </p:cNvPr>
          <p:cNvSpPr txBox="1"/>
          <p:nvPr/>
        </p:nvSpPr>
        <p:spPr>
          <a:xfrm>
            <a:off x="3726180" y="4837176"/>
            <a:ext cx="22905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Yeni bir kullanıcı hesabı oluşturun.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F92D06C-2687-DEFD-407B-B391DBE8479A}"/>
              </a:ext>
            </a:extLst>
          </p:cNvPr>
          <p:cNvSpPr/>
          <p:nvPr/>
        </p:nvSpPr>
        <p:spPr>
          <a:xfrm>
            <a:off x="6080760" y="4617720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910261FB-4D78-26B6-14A8-610D939C3919}"/>
              </a:ext>
            </a:extLst>
          </p:cNvPr>
          <p:cNvSpPr txBox="1"/>
          <p:nvPr/>
        </p:nvSpPr>
        <p:spPr>
          <a:xfrm>
            <a:off x="6492240" y="4599432"/>
            <a:ext cx="23088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İşlemler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C4923DD6-71F7-4A9B-D830-F67C44F7CFE2}"/>
              </a:ext>
            </a:extLst>
          </p:cNvPr>
          <p:cNvSpPr txBox="1"/>
          <p:nvPr/>
        </p:nvSpPr>
        <p:spPr>
          <a:xfrm>
            <a:off x="6492240" y="4837176"/>
            <a:ext cx="22905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Kullanıcı bilgilerini düzenleyin veya hesabı pasif duruma getirin.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AF6ADF-AAF5-71C5-C89B-2290CAECD48B}"/>
              </a:ext>
            </a:extLst>
          </p:cNvPr>
          <p:cNvSpPr/>
          <p:nvPr/>
        </p:nvSpPr>
        <p:spPr>
          <a:xfrm>
            <a:off x="8846820" y="4617720"/>
            <a:ext cx="310895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5E26D8F6-0CEA-814D-ABB5-6EE509D79448}"/>
              </a:ext>
            </a:extLst>
          </p:cNvPr>
          <p:cNvSpPr txBox="1"/>
          <p:nvPr/>
        </p:nvSpPr>
        <p:spPr>
          <a:xfrm>
            <a:off x="9258300" y="4599432"/>
            <a:ext cx="230886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60" b="1">
                <a:solidFill>
                  <a:srgbClr val="4B5F73"/>
                </a:solidFill>
                <a:latin typeface="Aptos" panose="020B0004020202020204" pitchFamily="34" charset="0"/>
              </a:rPr>
              <a:t>Rol erişimi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A589DB0C-CF5C-2A43-0A44-3A703C28FC0A}"/>
              </a:ext>
            </a:extLst>
          </p:cNvPr>
          <p:cNvSpPr txBox="1"/>
          <p:nvPr/>
        </p:nvSpPr>
        <p:spPr>
          <a:xfrm>
            <a:off x="9258300" y="4837176"/>
            <a:ext cx="229057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80">
                <a:solidFill>
                  <a:srgbClr val="66788A"/>
                </a:solidFill>
                <a:latin typeface="Aptos" panose="020B0004020202020204" pitchFamily="34" charset="0"/>
              </a:rPr>
              <a:t>Operator saha ekranlarını; Supervisor bunlara ek olarak sipariş, rapor, düzeltme ve kullanıcı yönetimini kullanır.</a:t>
            </a:r>
          </a:p>
        </p:txBody>
      </p:sp>
    </p:spTree>
    <p:extLst>
      <p:ext uri="{BB962C8B-B14F-4D97-AF65-F5344CB8AC3E}">
        <p14:creationId xmlns:p14="http://schemas.microsoft.com/office/powerpoint/2010/main" val="452006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dörtgen 1">
            <a:extLst>
              <a:ext uri="{FF2B5EF4-FFF2-40B4-BE49-F238E27FC236}">
                <a16:creationId xmlns:a16="http://schemas.microsoft.com/office/drawing/2014/main" id="{08E5B097-AD08-5B6A-3CCA-0ED980CC79DA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BF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DCA73736-5F81-2651-BE69-FBC5B7915036}"/>
              </a:ext>
            </a:extLst>
          </p:cNvPr>
          <p:cNvSpPr txBox="1"/>
          <p:nvPr/>
        </p:nvSpPr>
        <p:spPr>
          <a:xfrm>
            <a:off x="438912" y="2011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2100" b="1">
                <a:solidFill>
                  <a:srgbClr val="4B5F73"/>
                </a:solidFill>
                <a:latin typeface="Aptos" panose="020B0004020202020204" pitchFamily="34" charset="0"/>
              </a:rPr>
              <a:t>14. Yeni kullanıcı oluşturun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D7D8287-AC19-2AD7-528D-C4FA92254BBA}"/>
              </a:ext>
            </a:extLst>
          </p:cNvPr>
          <p:cNvSpPr txBox="1"/>
          <p:nvPr/>
        </p:nvSpPr>
        <p:spPr>
          <a:xfrm>
            <a:off x="457200" y="658368"/>
            <a:ext cx="10789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950">
                <a:solidFill>
                  <a:srgbClr val="66788A"/>
                </a:solidFill>
                <a:latin typeface="Aptos" panose="020B0004020202020204" pitchFamily="34" charset="0"/>
              </a:rPr>
              <a:t>Hesap bilgilerini girin ve kullanıcının görevine uygun rolü belirleyin.</a:t>
            </a:r>
          </a:p>
        </p:txBody>
      </p:sp>
      <p:cxnSp>
        <p:nvCxnSpPr>
          <p:cNvPr id="5" name="Düz Bağlayıcı 4">
            <a:extLst>
              <a:ext uri="{FF2B5EF4-FFF2-40B4-BE49-F238E27FC236}">
                <a16:creationId xmlns:a16="http://schemas.microsoft.com/office/drawing/2014/main" id="{003E6CD5-CCA7-A522-9E53-CE469AB77834}"/>
              </a:ext>
            </a:extLst>
          </p:cNvPr>
          <p:cNvCxnSpPr/>
          <p:nvPr/>
        </p:nvCxnSpPr>
        <p:spPr>
          <a:xfrm>
            <a:off x="457200" y="932688"/>
            <a:ext cx="11274552" cy="0"/>
          </a:xfrm>
          <a:prstGeom prst="line">
            <a:avLst/>
          </a:prstGeom>
          <a:ln w="9525">
            <a:solidFill>
              <a:srgbClr val="D9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89EF9E08-5D03-CD16-D2C5-0D795063AB0C}"/>
              </a:ext>
            </a:extLst>
          </p:cNvPr>
          <p:cNvSpPr txBox="1"/>
          <p:nvPr/>
        </p:nvSpPr>
        <p:spPr>
          <a:xfrm>
            <a:off x="457200" y="6565392"/>
            <a:ext cx="694944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720">
                <a:solidFill>
                  <a:srgbClr val="94A3B3"/>
                </a:solidFill>
                <a:latin typeface="Aptos" panose="020B0004020202020204" pitchFamily="34" charset="0"/>
              </a:rPr>
              <a:t>Kripto Kod Kontrol Otomasyon Sistemi | Yetkili Kullanıcı Kılavuzu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83967E44-33AB-F34E-49D4-B852EBD4FBC1}"/>
              </a:ext>
            </a:extLst>
          </p:cNvPr>
          <p:cNvSpPr txBox="1"/>
          <p:nvPr/>
        </p:nvSpPr>
        <p:spPr>
          <a:xfrm>
            <a:off x="11201400" y="310896"/>
            <a:ext cx="502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tr-TR" sz="800" b="1">
                <a:solidFill>
                  <a:srgbClr val="66788A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8" name="Dikdörtgen: Köşeleri Yuvarlatılmış 7">
            <a:extLst>
              <a:ext uri="{FF2B5EF4-FFF2-40B4-BE49-F238E27FC236}">
                <a16:creationId xmlns:a16="http://schemas.microsoft.com/office/drawing/2014/main" id="{BB208E5B-B25C-F36F-8D30-A59FD12F4177}"/>
              </a:ext>
            </a:extLst>
          </p:cNvPr>
          <p:cNvSpPr/>
          <p:nvPr/>
        </p:nvSpPr>
        <p:spPr>
          <a:xfrm>
            <a:off x="9078982" y="1042416"/>
            <a:ext cx="2416037" cy="5422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1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9642F05A-B914-A693-41BF-861F68E222C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558" y="1078992"/>
            <a:ext cx="2342884" cy="534924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38CD7D9-C286-02DD-E173-769CCF6A37A5}"/>
              </a:ext>
            </a:extLst>
          </p:cNvPr>
          <p:cNvSpPr/>
          <p:nvPr/>
        </p:nvSpPr>
        <p:spPr>
          <a:xfrm>
            <a:off x="10936224" y="1930723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2E69A2-0B56-7873-022C-C828B1F6EDA6}"/>
              </a:ext>
            </a:extLst>
          </p:cNvPr>
          <p:cNvSpPr/>
          <p:nvPr/>
        </p:nvSpPr>
        <p:spPr>
          <a:xfrm>
            <a:off x="10936224" y="2525083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B939F3-3176-3AA6-EC2B-E51D8B6CC9BF}"/>
              </a:ext>
            </a:extLst>
          </p:cNvPr>
          <p:cNvSpPr/>
          <p:nvPr/>
        </p:nvSpPr>
        <p:spPr>
          <a:xfrm>
            <a:off x="10936224" y="3029343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F16599-2918-BD6A-9D7F-D81CA10DD6FB}"/>
              </a:ext>
            </a:extLst>
          </p:cNvPr>
          <p:cNvSpPr/>
          <p:nvPr/>
        </p:nvSpPr>
        <p:spPr>
          <a:xfrm>
            <a:off x="9518904" y="3621024"/>
            <a:ext cx="310896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 dirty="0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4959BF1-14A6-F72A-D7E1-B4B23FAF5288}"/>
              </a:ext>
            </a:extLst>
          </p:cNvPr>
          <p:cNvSpPr/>
          <p:nvPr/>
        </p:nvSpPr>
        <p:spPr>
          <a:xfrm>
            <a:off x="777240" y="1325880"/>
            <a:ext cx="310896" cy="310896"/>
          </a:xfrm>
          <a:prstGeom prst="ellipse">
            <a:avLst/>
          </a:prstGeom>
          <a:solidFill>
            <a:srgbClr val="5A8DE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5F67954A-2853-52F7-0747-FD2F66B48124}"/>
              </a:ext>
            </a:extLst>
          </p:cNvPr>
          <p:cNvSpPr txBox="1"/>
          <p:nvPr/>
        </p:nvSpPr>
        <p:spPr>
          <a:xfrm>
            <a:off x="1207008" y="1316736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Hesap bilgileri</a:t>
            </a:r>
          </a:p>
        </p:txBody>
      </p:sp>
      <p:sp>
        <p:nvSpPr>
          <p:cNvPr id="17" name="Metin kutusu 16">
            <a:extLst>
              <a:ext uri="{FF2B5EF4-FFF2-40B4-BE49-F238E27FC236}">
                <a16:creationId xmlns:a16="http://schemas.microsoft.com/office/drawing/2014/main" id="{463B3FA8-8471-9F6D-192C-04235AFA42E3}"/>
              </a:ext>
            </a:extLst>
          </p:cNvPr>
          <p:cNvSpPr txBox="1"/>
          <p:nvPr/>
        </p:nvSpPr>
        <p:spPr>
          <a:xfrm>
            <a:off x="1207008" y="1554480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Sisteme girişte kullanılacak kullanıcı adını ve kullanıcının tam adını girin.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EA30E2-5B17-7A69-2141-8EF7C1AE93AA}"/>
              </a:ext>
            </a:extLst>
          </p:cNvPr>
          <p:cNvSpPr/>
          <p:nvPr/>
        </p:nvSpPr>
        <p:spPr>
          <a:xfrm>
            <a:off x="777240" y="2514600"/>
            <a:ext cx="310896" cy="310896"/>
          </a:xfrm>
          <a:prstGeom prst="ellipse">
            <a:avLst/>
          </a:prstGeom>
          <a:solidFill>
            <a:srgbClr val="2CBF6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1822563F-1BFA-2A81-47AC-ABCF614395A2}"/>
              </a:ext>
            </a:extLst>
          </p:cNvPr>
          <p:cNvSpPr txBox="1"/>
          <p:nvPr/>
        </p:nvSpPr>
        <p:spPr>
          <a:xfrm>
            <a:off x="1207008" y="2505456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Şifre</a:t>
            </a: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9582691D-D81A-0B6B-7A51-2C809EFACD5B}"/>
              </a:ext>
            </a:extLst>
          </p:cNvPr>
          <p:cNvSpPr txBox="1"/>
          <p:nvPr/>
        </p:nvSpPr>
        <p:spPr>
          <a:xfrm>
            <a:off x="1207008" y="2743200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Kullanıcı için güvenli bir başlangıç şifresi belirleyin.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3647737-7AF1-1936-D4C7-C9D74B9E85AB}"/>
              </a:ext>
            </a:extLst>
          </p:cNvPr>
          <p:cNvSpPr/>
          <p:nvPr/>
        </p:nvSpPr>
        <p:spPr>
          <a:xfrm>
            <a:off x="777240" y="3703320"/>
            <a:ext cx="310896" cy="310896"/>
          </a:xfrm>
          <a:prstGeom prst="ellipse">
            <a:avLst/>
          </a:prstGeom>
          <a:solidFill>
            <a:srgbClr val="F05B5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AC4855E8-0684-AB84-F441-8C05E0FE4299}"/>
              </a:ext>
            </a:extLst>
          </p:cNvPr>
          <p:cNvSpPr txBox="1"/>
          <p:nvPr/>
        </p:nvSpPr>
        <p:spPr>
          <a:xfrm>
            <a:off x="1207008" y="3694176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Rol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4F8D326F-5F67-87E5-2D3D-95D1E1E73DAF}"/>
              </a:ext>
            </a:extLst>
          </p:cNvPr>
          <p:cNvSpPr txBox="1"/>
          <p:nvPr/>
        </p:nvSpPr>
        <p:spPr>
          <a:xfrm>
            <a:off x="1207008" y="3931920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Kullanıcının görevine göre Operator veya Supervisor rolünü seçin.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DF33F65-5C9A-A553-20CF-F8CD7058212A}"/>
              </a:ext>
            </a:extLst>
          </p:cNvPr>
          <p:cNvSpPr/>
          <p:nvPr/>
        </p:nvSpPr>
        <p:spPr>
          <a:xfrm>
            <a:off x="777240" y="4892040"/>
            <a:ext cx="310896" cy="310896"/>
          </a:xfrm>
          <a:prstGeom prst="ellipse">
            <a:avLst/>
          </a:prstGeom>
          <a:solidFill>
            <a:srgbClr val="FFA64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tr-TR" sz="9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30FBE6B9-7EE8-D22E-2E3E-98433F647FAE}"/>
              </a:ext>
            </a:extLst>
          </p:cNvPr>
          <p:cNvSpPr txBox="1"/>
          <p:nvPr/>
        </p:nvSpPr>
        <p:spPr>
          <a:xfrm>
            <a:off x="1207008" y="4882896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1030" b="1">
                <a:solidFill>
                  <a:srgbClr val="4B5F73"/>
                </a:solidFill>
                <a:latin typeface="Aptos" panose="020B0004020202020204" pitchFamily="34" charset="0"/>
              </a:rPr>
              <a:t>Aktif ve Kaydet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2D35150A-E94E-8096-26D1-708488DBB7C3}"/>
              </a:ext>
            </a:extLst>
          </p:cNvPr>
          <p:cNvSpPr txBox="1"/>
          <p:nvPr/>
        </p:nvSpPr>
        <p:spPr>
          <a:xfrm>
            <a:off x="1207008" y="5120640"/>
            <a:ext cx="7296912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tr-TR" sz="820">
                <a:solidFill>
                  <a:srgbClr val="66788A"/>
                </a:solidFill>
                <a:latin typeface="Aptos" panose="020B0004020202020204" pitchFamily="34" charset="0"/>
              </a:rPr>
              <a:t>Aktif durumdaki kullanıcı sisteme giriş yapabilir. Bilgileri kontrol ederek hesabı kaydedin.</a:t>
            </a:r>
          </a:p>
        </p:txBody>
      </p:sp>
    </p:spTree>
    <p:extLst>
      <p:ext uri="{BB962C8B-B14F-4D97-AF65-F5344CB8AC3E}">
        <p14:creationId xmlns:p14="http://schemas.microsoft.com/office/powerpoint/2010/main" val="2804465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1254</Words>
  <Application>Microsoft Office PowerPoint</Application>
  <PresentationFormat>Geniş ekran</PresentationFormat>
  <Paragraphs>271</Paragraphs>
  <Slides>15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Mesut Kızılay</dc:creator>
  <cp:lastModifiedBy>Mesut Kızılay</cp:lastModifiedBy>
  <cp:revision>4</cp:revision>
  <dcterms:created xsi:type="dcterms:W3CDTF">2026-08-17T17:02:36Z</dcterms:created>
  <dcterms:modified xsi:type="dcterms:W3CDTF">2026-09-08T06:43:28Z</dcterms:modified>
</cp:coreProperties>
</file>